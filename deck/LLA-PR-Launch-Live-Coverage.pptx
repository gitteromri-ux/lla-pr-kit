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issuewire.com/the-leading-edtech-company-eteacher-group-enters-the-8-trillion-longevity-market-with-longevity-life-academy-1870920141214139" TargetMode="External"/><Relationship Id="rId4" Type="http://schemas.openxmlformats.org/officeDocument/2006/relationships/hyperlink" Target="https://www.issuewire.com/the-leading-edtech-company-eteacher-group-enters-the-8-trillion-longevity-market-with-longevity-life-academy-1870920141214139" TargetMode="External"/><Relationship Id="rId1" Type="http://schemas.openxmlformats.org/officeDocument/2006/relationships/image" Target="../media/image-3-1.png"/><Relationship Id="rId3"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pr.com/press-release/973819" TargetMode="External"/><Relationship Id="rId4" Type="http://schemas.openxmlformats.org/officeDocument/2006/relationships/hyperlink" Target="https://www.pr.com/press-release/973819" TargetMode="External"/><Relationship Id="rId1" Type="http://schemas.openxmlformats.org/officeDocument/2006/relationships/image" Target="../media/image-4-1.png"/><Relationship Id="rId3" Type="http://schemas.openxmlformats.org/officeDocument/2006/relationships/image" Target="../media/image-4-2.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prurgent.com/2026-07-19/pressrelease476632.htm" TargetMode="External"/><Relationship Id="rId4" Type="http://schemas.openxmlformats.org/officeDocument/2006/relationships/hyperlink" Target="https://www.prurgent.com/2026-07-19/pressrelease476632.htm" TargetMode="External"/><Relationship Id="rId1" Type="http://schemas.openxmlformats.org/officeDocument/2006/relationships/image" Target="../media/image-5-1.png"/><Relationship Id="rId3" Type="http://schemas.openxmlformats.org/officeDocument/2006/relationships/image" Target="../media/image-5-2.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prlog.org/13159273-eteacher-group-launches-longevity-life-academy-to-open-the-8-trillion-market-to-everyday-americans.html" TargetMode="External"/><Relationship Id="rId4" Type="http://schemas.openxmlformats.org/officeDocument/2006/relationships/hyperlink" Target="https://www.prlog.org/13159273-eteacher-group-launches-longevity-life-academy-to-open-the-8-trillion-market-to-everyday-americans.html" TargetMode="External"/><Relationship Id="rId1" Type="http://schemas.openxmlformats.org/officeDocument/2006/relationships/image" Target="../media/image-6-1.png"/><Relationship Id="rId3" Type="http://schemas.openxmlformats.org/officeDocument/2006/relationships/image" Target="../media/image-6-2.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news.prfree.org/@omrigitter/eteacher-group-launches-longevity-life-academy-science-backed-longevity-built-on-your-numbers-krgxqsk3q9mf" TargetMode="External"/><Relationship Id="rId4" Type="http://schemas.openxmlformats.org/officeDocument/2006/relationships/hyperlink" Target="https://news.prfree.org/@omrigitter/eteacher-group-launches-longevity-life-academy-science-backed-longevity-built-on-your-numbers-krgxqsk3q9mf" TargetMode="External"/><Relationship Id="rId1"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marketpressrelease.com/eTeacher-Group-Launches-Longevity-Life-Academy-Science-Backed-Longevity-Built-on-Your-Numbers-1784454195.html" TargetMode="External"/><Relationship Id="rId4" Type="http://schemas.openxmlformats.org/officeDocument/2006/relationships/hyperlink" Target="https://www.marketpressrelease.com/eTeacher-Group-Launches-Longevity-Life-Academy-Science-Backed-Longevity-Built-on-Your-Numbers-1784454195.html" TargetMode="External"/><Relationship Id="rId1" Type="http://schemas.openxmlformats.org/officeDocument/2006/relationships/image" Target="../media/image-8-1.png"/><Relationship Id="rId3"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1888pressrelease.com/" TargetMode="External"/><Relationship Id="rId4" Type="http://schemas.openxmlformats.org/officeDocument/2006/relationships/hyperlink" Target="https://www.1888pressrelease.com/" TargetMode="External"/><Relationship Id="rId1" Type="http://schemas.openxmlformats.org/officeDocument/2006/relationships/image" Target="../media/image-9-1.png"/><Relationship Id="rId3" Type="http://schemas.openxmlformats.org/officeDocument/2006/relationships/image" Target="../media/image-9-2.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einpresswire.com/" TargetMode="External"/><Relationship Id="rId4" Type="http://schemas.openxmlformats.org/officeDocument/2006/relationships/hyperlink" Target="https://www.einpresswire.com/" TargetMode="External"/><Relationship Id="rId1" Type="http://schemas.openxmlformats.org/officeDocument/2006/relationships/image" Target="../media/image-10-1.png"/><Relationship Id="rId3" Type="http://schemas.openxmlformats.org/officeDocument/2006/relationships/image" Target="../media/image-10-2.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teromri-ux.github.io/lla-pr-kit/" TargetMode="Externa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3"/>
        </a:solidFill>
      </p:bgPr>
    </p:bg>
    <p:spTree>
      <p:nvGrpSpPr>
        <p:cNvPr id="1" name=""/>
        <p:cNvGrpSpPr/>
        <p:nvPr/>
      </p:nvGrpSpPr>
      <p:grpSpPr>
        <a:xfrm>
          <a:off x="0" y="0"/>
          <a:ext cx="0" cy="0"/>
          <a:chOff x="0" y="0"/>
          <a:chExt cx="0" cy="0"/>
        </a:xfrm>
      </p:grpSpPr>
      <p:sp>
        <p:nvSpPr>
          <p:cNvPr id="2" name="Shape 0"/>
          <p:cNvSpPr/>
          <p:nvPr/>
        </p:nvSpPr>
        <p:spPr>
          <a:xfrm>
            <a:off x="457200" y="548640"/>
            <a:ext cx="548640" cy="54864"/>
          </a:xfrm>
          <a:prstGeom prst="rect">
            <a:avLst/>
          </a:prstGeom>
          <a:solidFill>
            <a:srgbClr val="2AA4A8"/>
          </a:solidFill>
          <a:ln/>
        </p:spPr>
      </p:sp>
      <p:sp>
        <p:nvSpPr>
          <p:cNvPr id="3" name="Text 1"/>
          <p:cNvSpPr/>
          <p:nvPr/>
        </p:nvSpPr>
        <p:spPr>
          <a:xfrm>
            <a:off x="457200" y="777240"/>
            <a:ext cx="7315200" cy="320040"/>
          </a:xfrm>
          <a:prstGeom prst="rect">
            <a:avLst/>
          </a:prstGeom>
          <a:noFill/>
          <a:ln/>
        </p:spPr>
        <p:txBody>
          <a:bodyPr wrap="square" rtlCol="0" anchor="ctr"/>
          <a:lstStyle/>
          <a:p>
            <a:pPr indent="0" marL="0">
              <a:buNone/>
            </a:pPr>
            <a:r>
              <a:rPr lang="en-US" sz="1200" b="1" spc="600" kern="0" dirty="0">
                <a:solidFill>
                  <a:srgbClr val="A8ADB4"/>
                </a:solidFill>
                <a:latin typeface="Calibri" pitchFamily="34" charset="0"/>
                <a:ea typeface="Calibri" pitchFamily="34" charset="-122"/>
                <a:cs typeface="Calibri" pitchFamily="34" charset="-120"/>
              </a:rPr>
              <a:t>LONGEVITY LIFE ACADEMY</a:t>
            </a:r>
            <a:endParaRPr lang="en-US" sz="1200" dirty="0"/>
          </a:p>
        </p:txBody>
      </p:sp>
      <p:sp>
        <p:nvSpPr>
          <p:cNvPr id="4" name="Text 2"/>
          <p:cNvSpPr/>
          <p:nvPr/>
        </p:nvSpPr>
        <p:spPr>
          <a:xfrm>
            <a:off x="457200" y="1554480"/>
            <a:ext cx="9601200" cy="2103120"/>
          </a:xfrm>
          <a:prstGeom prst="rect">
            <a:avLst/>
          </a:prstGeom>
          <a:noFill/>
          <a:ln/>
        </p:spPr>
        <p:txBody>
          <a:bodyPr wrap="square" rtlCol="0" anchor="t"/>
          <a:lstStyle/>
          <a:p>
            <a:pPr indent="0" marL="0">
              <a:lnSpc>
                <a:spcPct val="95000"/>
              </a:lnSpc>
              <a:buNone/>
            </a:pPr>
            <a:r>
              <a:rPr lang="en-US" sz="7200" b="1" dirty="0">
                <a:solidFill>
                  <a:srgbClr val="F7F6F2"/>
                </a:solidFill>
                <a:latin typeface="Trebuchet MS" pitchFamily="34" charset="0"/>
                <a:ea typeface="Trebuchet MS" pitchFamily="34" charset="-122"/>
                <a:cs typeface="Trebuchet MS" pitchFamily="34" charset="-120"/>
              </a:rPr>
              <a:t>Press Launch</a:t>
            </a:r>
            <a:endParaRPr lang="en-US" sz="7200" dirty="0"/>
          </a:p>
          <a:p>
            <a:pPr indent="0" marL="0">
              <a:lnSpc>
                <a:spcPct val="95000"/>
              </a:lnSpc>
              <a:buNone/>
            </a:pPr>
            <a:r>
              <a:rPr lang="en-US" sz="7200" b="1" dirty="0">
                <a:solidFill>
                  <a:srgbClr val="F7F6F2"/>
                </a:solidFill>
                <a:latin typeface="Trebuchet MS" pitchFamily="34" charset="0"/>
                <a:ea typeface="Trebuchet MS" pitchFamily="34" charset="-122"/>
                <a:cs typeface="Trebuchet MS" pitchFamily="34" charset="-120"/>
              </a:rPr>
              <a:t>Live Coverage</a:t>
            </a:r>
            <a:endParaRPr lang="en-US" sz="7200" dirty="0"/>
          </a:p>
        </p:txBody>
      </p:sp>
      <p:sp>
        <p:nvSpPr>
          <p:cNvPr id="5" name="Text 3"/>
          <p:cNvSpPr/>
          <p:nvPr/>
        </p:nvSpPr>
        <p:spPr>
          <a:xfrm>
            <a:off x="457200" y="4114800"/>
            <a:ext cx="10515600" cy="548640"/>
          </a:xfrm>
          <a:prstGeom prst="rect">
            <a:avLst/>
          </a:prstGeom>
          <a:noFill/>
          <a:ln/>
        </p:spPr>
        <p:txBody>
          <a:bodyPr wrap="square" rtlCol="0" anchor="ctr"/>
          <a:lstStyle/>
          <a:p>
            <a:pPr indent="0" marL="0">
              <a:buNone/>
            </a:pPr>
            <a:r>
              <a:rPr lang="en-US" sz="2200" dirty="0">
                <a:solidFill>
                  <a:srgbClr val="A8ADB4"/>
                </a:solidFill>
                <a:latin typeface="Calibri" pitchFamily="34" charset="0"/>
                <a:ea typeface="Calibri" pitchFamily="34" charset="-122"/>
                <a:cs typeface="Calibri" pitchFamily="34" charset="-120"/>
              </a:rPr>
              <a:t>Sixth online school from eTeacher Group.  Six outlets live today. Two more queued.</a:t>
            </a:r>
            <a:endParaRPr lang="en-US" sz="2200" dirty="0"/>
          </a:p>
        </p:txBody>
      </p:sp>
      <p:sp>
        <p:nvSpPr>
          <p:cNvPr id="6" name="Text 4"/>
          <p:cNvSpPr/>
          <p:nvPr/>
        </p:nvSpPr>
        <p:spPr>
          <a:xfrm>
            <a:off x="8686800" y="1554480"/>
            <a:ext cx="2926080" cy="1828800"/>
          </a:xfrm>
          <a:prstGeom prst="rect">
            <a:avLst/>
          </a:prstGeom>
          <a:noFill/>
          <a:ln/>
        </p:spPr>
        <p:txBody>
          <a:bodyPr wrap="square" lIns="0" tIns="0" rIns="0" bIns="0" rtlCol="0" anchor="t"/>
          <a:lstStyle/>
          <a:p>
            <a:pPr algn="r" indent="0" marL="0">
              <a:buNone/>
            </a:pPr>
            <a:r>
              <a:rPr lang="en-US" sz="9600" b="1" dirty="0">
                <a:solidFill>
                  <a:srgbClr val="2AA4A8"/>
                </a:solidFill>
                <a:latin typeface="Trebuchet MS" pitchFamily="34" charset="0"/>
                <a:ea typeface="Trebuchet MS" pitchFamily="34" charset="-122"/>
                <a:cs typeface="Trebuchet MS" pitchFamily="34" charset="-120"/>
              </a:rPr>
              <a:t>6</a:t>
            </a:r>
            <a:pPr algn="r" indent="0" marL="0">
              <a:buNone/>
            </a:pPr>
            <a:endParaRPr lang="en-US" sz="9600" dirty="0"/>
          </a:p>
          <a:p>
            <a:pPr algn="r" indent="0" marL="0">
              <a:buNone/>
            </a:pPr>
            <a:r>
              <a:rPr lang="en-US" sz="1200" b="1" spc="400" kern="0" dirty="0">
                <a:solidFill>
                  <a:srgbClr val="A8ADB4"/>
                </a:solidFill>
                <a:latin typeface="Calibri" pitchFamily="34" charset="0"/>
                <a:ea typeface="Calibri" pitchFamily="34" charset="-122"/>
                <a:cs typeface="Calibri" pitchFamily="34" charset="-120"/>
              </a:rPr>
              <a:t>OUTLETS LIVE</a:t>
            </a:r>
            <a:endParaRPr lang="en-US" sz="9600" dirty="0"/>
          </a:p>
        </p:txBody>
      </p:sp>
      <p:sp>
        <p:nvSpPr>
          <p:cNvPr id="7" name="Shape 5"/>
          <p:cNvSpPr/>
          <p:nvPr/>
        </p:nvSpPr>
        <p:spPr>
          <a:xfrm>
            <a:off x="457200" y="5486400"/>
            <a:ext cx="11247120" cy="0"/>
          </a:xfrm>
          <a:prstGeom prst="line">
            <a:avLst/>
          </a:prstGeom>
          <a:noFill/>
          <a:ln w="6350">
            <a:solidFill>
              <a:srgbClr val="2B3A3F"/>
            </a:solidFill>
            <a:prstDash val="solid"/>
          </a:ln>
        </p:spPr>
      </p:sp>
      <p:sp>
        <p:nvSpPr>
          <p:cNvPr id="8" name="Text 6"/>
          <p:cNvSpPr/>
          <p:nvPr/>
        </p:nvSpPr>
        <p:spPr>
          <a:xfrm>
            <a:off x="457200" y="566928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DATELINE</a:t>
            </a:r>
            <a:endParaRPr lang="en-US" sz="900" dirty="0"/>
          </a:p>
        </p:txBody>
      </p:sp>
      <p:sp>
        <p:nvSpPr>
          <p:cNvPr id="9" name="Text 7"/>
          <p:cNvSpPr/>
          <p:nvPr/>
        </p:nvSpPr>
        <p:spPr>
          <a:xfrm>
            <a:off x="457200" y="5925312"/>
            <a:ext cx="2651760" cy="320040"/>
          </a:xfrm>
          <a:prstGeom prst="rect">
            <a:avLst/>
          </a:prstGeom>
          <a:noFill/>
          <a:ln/>
        </p:spPr>
        <p:txBody>
          <a:bodyPr wrap="square" rtlCol="0" anchor="ctr"/>
          <a:lstStyle/>
          <a:p>
            <a:pPr indent="0" marL="0">
              <a:buNone/>
            </a:pPr>
            <a:r>
              <a:rPr lang="en-US" sz="1400" b="1" dirty="0">
                <a:solidFill>
                  <a:srgbClr val="F7F6F2"/>
                </a:solidFill>
                <a:latin typeface="Trebuchet MS" pitchFamily="34" charset="0"/>
                <a:ea typeface="Trebuchet MS" pitchFamily="34" charset="-122"/>
                <a:cs typeface="Trebuchet MS" pitchFamily="34" charset="-120"/>
              </a:rPr>
              <a:t>Miami, FL</a:t>
            </a:r>
            <a:endParaRPr lang="en-US" sz="1400" dirty="0"/>
          </a:p>
        </p:txBody>
      </p:sp>
      <p:sp>
        <p:nvSpPr>
          <p:cNvPr id="10" name="Text 8"/>
          <p:cNvSpPr/>
          <p:nvPr/>
        </p:nvSpPr>
        <p:spPr>
          <a:xfrm>
            <a:off x="3291840" y="566928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PUBLIC CONTACT</a:t>
            </a:r>
            <a:endParaRPr lang="en-US" sz="900" dirty="0"/>
          </a:p>
        </p:txBody>
      </p:sp>
      <p:sp>
        <p:nvSpPr>
          <p:cNvPr id="11" name="Text 9"/>
          <p:cNvSpPr/>
          <p:nvPr/>
        </p:nvSpPr>
        <p:spPr>
          <a:xfrm>
            <a:off x="3291840" y="5925312"/>
            <a:ext cx="2651760" cy="320040"/>
          </a:xfrm>
          <a:prstGeom prst="rect">
            <a:avLst/>
          </a:prstGeom>
          <a:noFill/>
          <a:ln/>
        </p:spPr>
        <p:txBody>
          <a:bodyPr wrap="square" rtlCol="0" anchor="ctr"/>
          <a:lstStyle/>
          <a:p>
            <a:pPr indent="0" marL="0">
              <a:buNone/>
            </a:pPr>
            <a:r>
              <a:rPr lang="en-US" sz="1400" b="1" dirty="0">
                <a:solidFill>
                  <a:srgbClr val="F7F6F2"/>
                </a:solidFill>
                <a:latin typeface="Trebuchet MS" pitchFamily="34" charset="0"/>
                <a:ea typeface="Trebuchet MS" pitchFamily="34" charset="-122"/>
                <a:cs typeface="Trebuchet MS" pitchFamily="34" charset="-120"/>
              </a:rPr>
              <a:t>Harel Tayeb, CEO</a:t>
            </a:r>
            <a:endParaRPr lang="en-US" sz="1400" dirty="0"/>
          </a:p>
        </p:txBody>
      </p:sp>
      <p:sp>
        <p:nvSpPr>
          <p:cNvPr id="12" name="Text 10"/>
          <p:cNvSpPr/>
          <p:nvPr/>
        </p:nvSpPr>
        <p:spPr>
          <a:xfrm>
            <a:off x="6126480" y="566928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DATE</a:t>
            </a:r>
            <a:endParaRPr lang="en-US" sz="900" dirty="0"/>
          </a:p>
        </p:txBody>
      </p:sp>
      <p:sp>
        <p:nvSpPr>
          <p:cNvPr id="13" name="Text 11"/>
          <p:cNvSpPr/>
          <p:nvPr/>
        </p:nvSpPr>
        <p:spPr>
          <a:xfrm>
            <a:off x="6126480" y="5925312"/>
            <a:ext cx="2651760" cy="320040"/>
          </a:xfrm>
          <a:prstGeom prst="rect">
            <a:avLst/>
          </a:prstGeom>
          <a:noFill/>
          <a:ln/>
        </p:spPr>
        <p:txBody>
          <a:bodyPr wrap="square" rtlCol="0" anchor="ctr"/>
          <a:lstStyle/>
          <a:p>
            <a:pPr indent="0" marL="0">
              <a:buNone/>
            </a:pPr>
            <a:r>
              <a:rPr lang="en-US" sz="1400" b="1" dirty="0">
                <a:solidFill>
                  <a:srgbClr val="F7F6F2"/>
                </a:solidFill>
                <a:latin typeface="Trebuchet MS" pitchFamily="34" charset="0"/>
                <a:ea typeface="Trebuchet MS" pitchFamily="34" charset="-122"/>
                <a:cs typeface="Trebuchet MS" pitchFamily="34" charset="-120"/>
              </a:rPr>
              <a:t>Jul 19–20, 2026</a:t>
            </a:r>
            <a:endParaRPr lang="en-US" sz="1400" dirty="0"/>
          </a:p>
        </p:txBody>
      </p:sp>
      <p:sp>
        <p:nvSpPr>
          <p:cNvPr id="14" name="Text 12"/>
          <p:cNvSpPr/>
          <p:nvPr/>
        </p:nvSpPr>
        <p:spPr>
          <a:xfrm>
            <a:off x="8961120" y="566928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STATUS</a:t>
            </a:r>
            <a:endParaRPr lang="en-US" sz="900" dirty="0"/>
          </a:p>
        </p:txBody>
      </p:sp>
      <p:sp>
        <p:nvSpPr>
          <p:cNvPr id="15" name="Text 13"/>
          <p:cNvSpPr/>
          <p:nvPr/>
        </p:nvSpPr>
        <p:spPr>
          <a:xfrm>
            <a:off x="8961120" y="5925312"/>
            <a:ext cx="2651760" cy="320040"/>
          </a:xfrm>
          <a:prstGeom prst="rect">
            <a:avLst/>
          </a:prstGeom>
          <a:noFill/>
          <a:ln/>
        </p:spPr>
        <p:txBody>
          <a:bodyPr wrap="square" rtlCol="0" anchor="ctr"/>
          <a:lstStyle/>
          <a:p>
            <a:pPr indent="0" marL="0">
              <a:buNone/>
            </a:pPr>
            <a:r>
              <a:rPr lang="en-US" sz="1400" b="1" dirty="0">
                <a:solidFill>
                  <a:srgbClr val="F7F6F2"/>
                </a:solidFill>
                <a:latin typeface="Trebuchet MS" pitchFamily="34" charset="0"/>
                <a:ea typeface="Trebuchet MS" pitchFamily="34" charset="-122"/>
                <a:cs typeface="Trebuchet MS" pitchFamily="34" charset="-120"/>
              </a:rPr>
              <a:t>All Live · HTTP 200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457200"/>
            <a:ext cx="7315200" cy="548640"/>
          </a:xfrm>
          <a:prstGeom prst="rect">
            <a:avLst/>
          </a:prstGeom>
          <a:noFill/>
          <a:ln/>
        </p:spPr>
        <p:txBody>
          <a:bodyPr wrap="square" rtlCol="0" anchor="ctr"/>
          <a:lstStyle/>
          <a:p>
            <a:pPr indent="0" marL="0">
              <a:buNone/>
            </a:pPr>
            <a:r>
              <a:rPr lang="en-US" sz="3600" b="1" dirty="0">
                <a:solidFill>
                  <a:srgbClr val="111318"/>
                </a:solidFill>
                <a:latin typeface="Trebuchet MS" pitchFamily="34" charset="0"/>
                <a:ea typeface="Trebuchet MS" pitchFamily="34" charset="-122"/>
                <a:cs typeface="Trebuchet MS" pitchFamily="34" charset="-120"/>
              </a:rPr>
              <a:t>The footprint</a:t>
            </a:r>
            <a:endParaRPr lang="en-US" sz="3600" dirty="0"/>
          </a:p>
        </p:txBody>
      </p:sp>
      <p:sp>
        <p:nvSpPr>
          <p:cNvPr id="3" name="Text 1"/>
          <p:cNvSpPr/>
          <p:nvPr/>
        </p:nvSpPr>
        <p:spPr>
          <a:xfrm>
            <a:off x="457200" y="960120"/>
            <a:ext cx="10972800" cy="365760"/>
          </a:xfrm>
          <a:prstGeom prst="rect">
            <a:avLst/>
          </a:prstGeom>
          <a:noFill/>
          <a:ln/>
        </p:spPr>
        <p:txBody>
          <a:bodyPr wrap="square" rtlCol="0" anchor="ctr"/>
          <a:lstStyle/>
          <a:p>
            <a:pPr indent="0" marL="0">
              <a:buNone/>
            </a:pPr>
            <a:r>
              <a:rPr lang="en-US" sz="1600" dirty="0">
                <a:solidFill>
                  <a:srgbClr val="6B6E74"/>
                </a:solidFill>
                <a:latin typeface="Calibri" pitchFamily="34" charset="0"/>
                <a:ea typeface="Calibri" pitchFamily="34" charset="-122"/>
                <a:cs typeface="Calibri" pitchFamily="34" charset="-120"/>
              </a:rPr>
              <a:t>Six press outlets live · one media kit · two paid outlets in review</a:t>
            </a:r>
            <a:endParaRPr lang="en-US" sz="1600" dirty="0"/>
          </a:p>
        </p:txBody>
      </p:sp>
      <p:sp>
        <p:nvSpPr>
          <p:cNvPr id="4" name="Shape 2"/>
          <p:cNvSpPr/>
          <p:nvPr/>
        </p:nvSpPr>
        <p:spPr>
          <a:xfrm>
            <a:off x="457200" y="1554480"/>
            <a:ext cx="3611880" cy="1554480"/>
          </a:xfrm>
          <a:prstGeom prst="rect">
            <a:avLst/>
          </a:prstGeom>
          <a:solidFill>
            <a:srgbClr val="FFFFFF"/>
          </a:solidFill>
          <a:ln w="6350">
            <a:solidFill>
              <a:srgbClr val="E4E1DA"/>
            </a:solidFill>
            <a:prstDash val="solid"/>
          </a:ln>
        </p:spPr>
      </p:sp>
      <p:sp>
        <p:nvSpPr>
          <p:cNvPr id="5" name="Text 3"/>
          <p:cNvSpPr/>
          <p:nvPr/>
        </p:nvSpPr>
        <p:spPr>
          <a:xfrm>
            <a:off x="731520" y="1600200"/>
            <a:ext cx="3200400" cy="914400"/>
          </a:xfrm>
          <a:prstGeom prst="rect">
            <a:avLst/>
          </a:prstGeom>
          <a:noFill/>
          <a:ln/>
        </p:spPr>
        <p:txBody>
          <a:bodyPr wrap="square" rtlCol="0" anchor="t"/>
          <a:lstStyle/>
          <a:p>
            <a:pPr indent="0" marL="0">
              <a:buNone/>
            </a:pPr>
            <a:r>
              <a:rPr lang="en-US" sz="7200" b="1" dirty="0">
                <a:solidFill>
                  <a:srgbClr val="01696F"/>
                </a:solidFill>
                <a:latin typeface="Trebuchet MS" pitchFamily="34" charset="0"/>
                <a:ea typeface="Trebuchet MS" pitchFamily="34" charset="-122"/>
                <a:cs typeface="Trebuchet MS" pitchFamily="34" charset="-120"/>
              </a:rPr>
              <a:t>6</a:t>
            </a:r>
            <a:endParaRPr lang="en-US" sz="7200" dirty="0"/>
          </a:p>
        </p:txBody>
      </p:sp>
      <p:sp>
        <p:nvSpPr>
          <p:cNvPr id="6" name="Text 4"/>
          <p:cNvSpPr/>
          <p:nvPr/>
        </p:nvSpPr>
        <p:spPr>
          <a:xfrm>
            <a:off x="731520" y="2514600"/>
            <a:ext cx="3200400" cy="27432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LIVE OUTLETS</a:t>
            </a:r>
            <a:endParaRPr lang="en-US" sz="1000" dirty="0"/>
          </a:p>
        </p:txBody>
      </p:sp>
      <p:sp>
        <p:nvSpPr>
          <p:cNvPr id="7" name="Text 5"/>
          <p:cNvSpPr/>
          <p:nvPr/>
        </p:nvSpPr>
        <p:spPr>
          <a:xfrm>
            <a:off x="731520" y="2761488"/>
            <a:ext cx="3200400" cy="274320"/>
          </a:xfrm>
          <a:prstGeom prst="rect">
            <a:avLst/>
          </a:prstGeom>
          <a:noFill/>
          <a:ln/>
        </p:spPr>
        <p:txBody>
          <a:bodyPr wrap="square" rtlCol="0" anchor="ctr"/>
          <a:lstStyle/>
          <a:p>
            <a:pPr indent="0" marL="0">
              <a:buNone/>
            </a:pPr>
            <a:r>
              <a:rPr lang="en-US" sz="1200" dirty="0">
                <a:solidFill>
                  <a:srgbClr val="111318"/>
                </a:solidFill>
                <a:latin typeface="Calibri" pitchFamily="34" charset="0"/>
                <a:ea typeface="Calibri" pitchFamily="34" charset="-122"/>
                <a:cs typeface="Calibri" pitchFamily="34" charset="-120"/>
              </a:rPr>
              <a:t>HTTP 200 · content clean</a:t>
            </a:r>
            <a:endParaRPr lang="en-US" sz="1200" dirty="0"/>
          </a:p>
        </p:txBody>
      </p:sp>
      <p:sp>
        <p:nvSpPr>
          <p:cNvPr id="8" name="Shape 6"/>
          <p:cNvSpPr/>
          <p:nvPr/>
        </p:nvSpPr>
        <p:spPr>
          <a:xfrm>
            <a:off x="4251960" y="1554480"/>
            <a:ext cx="3611880" cy="1554480"/>
          </a:xfrm>
          <a:prstGeom prst="rect">
            <a:avLst/>
          </a:prstGeom>
          <a:solidFill>
            <a:srgbClr val="FFFFFF"/>
          </a:solidFill>
          <a:ln w="6350">
            <a:solidFill>
              <a:srgbClr val="E4E1DA"/>
            </a:solidFill>
            <a:prstDash val="solid"/>
          </a:ln>
        </p:spPr>
      </p:sp>
      <p:sp>
        <p:nvSpPr>
          <p:cNvPr id="9" name="Text 7"/>
          <p:cNvSpPr/>
          <p:nvPr/>
        </p:nvSpPr>
        <p:spPr>
          <a:xfrm>
            <a:off x="4526280" y="1600200"/>
            <a:ext cx="3200400" cy="914400"/>
          </a:xfrm>
          <a:prstGeom prst="rect">
            <a:avLst/>
          </a:prstGeom>
          <a:noFill/>
          <a:ln/>
        </p:spPr>
        <p:txBody>
          <a:bodyPr wrap="square" rtlCol="0" anchor="t"/>
          <a:lstStyle/>
          <a:p>
            <a:pPr indent="0" marL="0">
              <a:buNone/>
            </a:pPr>
            <a:r>
              <a:rPr lang="en-US" sz="7200" b="1" dirty="0">
                <a:solidFill>
                  <a:srgbClr val="01696F"/>
                </a:solidFill>
                <a:latin typeface="Trebuchet MS" pitchFamily="34" charset="0"/>
                <a:ea typeface="Trebuchet MS" pitchFamily="34" charset="-122"/>
                <a:cs typeface="Trebuchet MS" pitchFamily="34" charset="-120"/>
              </a:rPr>
              <a:t>3</a:t>
            </a:r>
            <a:endParaRPr lang="en-US" sz="7200" dirty="0"/>
          </a:p>
        </p:txBody>
      </p:sp>
      <p:sp>
        <p:nvSpPr>
          <p:cNvPr id="10" name="Text 8"/>
          <p:cNvSpPr/>
          <p:nvPr/>
        </p:nvSpPr>
        <p:spPr>
          <a:xfrm>
            <a:off x="4526280" y="2514600"/>
            <a:ext cx="3200400" cy="27432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ARTICLES ROTATED</a:t>
            </a:r>
            <a:endParaRPr lang="en-US" sz="1000" dirty="0"/>
          </a:p>
        </p:txBody>
      </p:sp>
      <p:sp>
        <p:nvSpPr>
          <p:cNvPr id="11" name="Text 9"/>
          <p:cNvSpPr/>
          <p:nvPr/>
        </p:nvSpPr>
        <p:spPr>
          <a:xfrm>
            <a:off x="4526280" y="2761488"/>
            <a:ext cx="3200400" cy="274320"/>
          </a:xfrm>
          <a:prstGeom prst="rect">
            <a:avLst/>
          </a:prstGeom>
          <a:noFill/>
          <a:ln/>
        </p:spPr>
        <p:txBody>
          <a:bodyPr wrap="square" rtlCol="0" anchor="ctr"/>
          <a:lstStyle/>
          <a:p>
            <a:pPr indent="0" marL="0">
              <a:buNone/>
            </a:pPr>
            <a:r>
              <a:rPr lang="en-US" sz="1200" dirty="0">
                <a:solidFill>
                  <a:srgbClr val="111318"/>
                </a:solidFill>
                <a:latin typeface="Calibri" pitchFamily="34" charset="0"/>
                <a:ea typeface="Calibri" pitchFamily="34" charset="-122"/>
                <a:cs typeface="Calibri" pitchFamily="34" charset="-120"/>
              </a:rPr>
              <a:t>Flagship · Business · Consumer</a:t>
            </a:r>
            <a:endParaRPr lang="en-US" sz="1200" dirty="0"/>
          </a:p>
        </p:txBody>
      </p:sp>
      <p:sp>
        <p:nvSpPr>
          <p:cNvPr id="12" name="Shape 10"/>
          <p:cNvSpPr/>
          <p:nvPr/>
        </p:nvSpPr>
        <p:spPr>
          <a:xfrm>
            <a:off x="8046720" y="1554480"/>
            <a:ext cx="3611880" cy="1554480"/>
          </a:xfrm>
          <a:prstGeom prst="rect">
            <a:avLst/>
          </a:prstGeom>
          <a:solidFill>
            <a:srgbClr val="FFFFFF"/>
          </a:solidFill>
          <a:ln w="6350">
            <a:solidFill>
              <a:srgbClr val="E4E1DA"/>
            </a:solidFill>
            <a:prstDash val="solid"/>
          </a:ln>
        </p:spPr>
      </p:sp>
      <p:sp>
        <p:nvSpPr>
          <p:cNvPr id="13" name="Text 11"/>
          <p:cNvSpPr/>
          <p:nvPr/>
        </p:nvSpPr>
        <p:spPr>
          <a:xfrm>
            <a:off x="8321040" y="1600200"/>
            <a:ext cx="3200400" cy="914400"/>
          </a:xfrm>
          <a:prstGeom prst="rect">
            <a:avLst/>
          </a:prstGeom>
          <a:noFill/>
          <a:ln/>
        </p:spPr>
        <p:txBody>
          <a:bodyPr wrap="square" rtlCol="0" anchor="t"/>
          <a:lstStyle/>
          <a:p>
            <a:pPr indent="0" marL="0">
              <a:buNone/>
            </a:pPr>
            <a:r>
              <a:rPr lang="en-US" sz="7200" b="1" dirty="0">
                <a:solidFill>
                  <a:srgbClr val="01696F"/>
                </a:solidFill>
                <a:latin typeface="Trebuchet MS" pitchFamily="34" charset="0"/>
                <a:ea typeface="Trebuchet MS" pitchFamily="34" charset="-122"/>
                <a:cs typeface="Trebuchet MS" pitchFamily="34" charset="-120"/>
              </a:rPr>
              <a:t>1</a:t>
            </a:r>
            <a:endParaRPr lang="en-US" sz="7200" dirty="0"/>
          </a:p>
        </p:txBody>
      </p:sp>
      <p:sp>
        <p:nvSpPr>
          <p:cNvPr id="14" name="Text 12"/>
          <p:cNvSpPr/>
          <p:nvPr/>
        </p:nvSpPr>
        <p:spPr>
          <a:xfrm>
            <a:off x="8321040" y="2514600"/>
            <a:ext cx="3200400" cy="27432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PUBLIC KIT</a:t>
            </a:r>
            <a:endParaRPr lang="en-US" sz="1000" dirty="0"/>
          </a:p>
        </p:txBody>
      </p:sp>
      <p:sp>
        <p:nvSpPr>
          <p:cNvPr id="15" name="Text 13"/>
          <p:cNvSpPr/>
          <p:nvPr/>
        </p:nvSpPr>
        <p:spPr>
          <a:xfrm>
            <a:off x="8321040" y="2761488"/>
            <a:ext cx="3200400" cy="274320"/>
          </a:xfrm>
          <a:prstGeom prst="rect">
            <a:avLst/>
          </a:prstGeom>
          <a:noFill/>
          <a:ln/>
        </p:spPr>
        <p:txBody>
          <a:bodyPr wrap="square" rtlCol="0" anchor="ctr"/>
          <a:lstStyle/>
          <a:p>
            <a:pPr indent="0" marL="0">
              <a:buNone/>
            </a:pPr>
            <a:r>
              <a:rPr lang="en-US" sz="1200" dirty="0">
                <a:solidFill>
                  <a:srgbClr val="111318"/>
                </a:solidFill>
                <a:latin typeface="Calibri" pitchFamily="34" charset="0"/>
                <a:ea typeface="Calibri" pitchFamily="34" charset="-122"/>
                <a:cs typeface="Calibri" pitchFamily="34" charset="-120"/>
              </a:rPr>
              <a:t>gitteromri-ux.github.io/lla-pr-kit</a:t>
            </a:r>
            <a:endParaRPr lang="en-US" sz="1200" dirty="0"/>
          </a:p>
        </p:txBody>
      </p:sp>
      <p:sp>
        <p:nvSpPr>
          <p:cNvPr id="16" name="Text 14"/>
          <p:cNvSpPr/>
          <p:nvPr/>
        </p:nvSpPr>
        <p:spPr>
          <a:xfrm>
            <a:off x="457200" y="3383280"/>
            <a:ext cx="7315200" cy="365760"/>
          </a:xfrm>
          <a:prstGeom prst="rect">
            <a:avLst/>
          </a:prstGeom>
          <a:noFill/>
          <a:ln/>
        </p:spPr>
        <p:txBody>
          <a:bodyPr wrap="square" rtlCol="0" anchor="ctr"/>
          <a:lstStyle/>
          <a:p>
            <a:pPr indent="0" marL="0">
              <a:buNone/>
            </a:pPr>
            <a:r>
              <a:rPr lang="en-US" sz="2000" b="1" dirty="0">
                <a:solidFill>
                  <a:srgbClr val="111318"/>
                </a:solidFill>
                <a:latin typeface="Trebuchet MS" pitchFamily="34" charset="0"/>
                <a:ea typeface="Trebuchet MS" pitchFamily="34" charset="-122"/>
                <a:cs typeface="Trebuchet MS" pitchFamily="34" charset="-120"/>
              </a:rPr>
              <a:t>Live coverage roster</a:t>
            </a:r>
            <a:endParaRPr lang="en-US" sz="2000" dirty="0"/>
          </a:p>
        </p:txBody>
      </p:sp>
      <p:sp>
        <p:nvSpPr>
          <p:cNvPr id="17" name="Shape 15"/>
          <p:cNvSpPr/>
          <p:nvPr/>
        </p:nvSpPr>
        <p:spPr>
          <a:xfrm>
            <a:off x="502920" y="4023360"/>
            <a:ext cx="164592" cy="164592"/>
          </a:xfrm>
          <a:prstGeom prst="ellipse">
            <a:avLst/>
          </a:prstGeom>
          <a:solidFill>
            <a:srgbClr val="2C7A4B"/>
          </a:solidFill>
          <a:ln/>
        </p:spPr>
      </p:sp>
      <p:sp>
        <p:nvSpPr>
          <p:cNvPr id="18" name="Text 16"/>
          <p:cNvSpPr/>
          <p:nvPr/>
        </p:nvSpPr>
        <p:spPr>
          <a:xfrm>
            <a:off x="777240" y="39319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PR.com</a:t>
            </a:r>
            <a:endParaRPr lang="en-US" sz="1500" dirty="0"/>
          </a:p>
        </p:txBody>
      </p:sp>
      <p:sp>
        <p:nvSpPr>
          <p:cNvPr id="19" name="Text 17"/>
          <p:cNvSpPr/>
          <p:nvPr/>
        </p:nvSpPr>
        <p:spPr>
          <a:xfrm>
            <a:off x="3657600" y="39319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BUSINESS</a:t>
            </a:r>
            <a:endParaRPr lang="en-US" sz="1000" dirty="0"/>
          </a:p>
        </p:txBody>
      </p:sp>
      <p:sp>
        <p:nvSpPr>
          <p:cNvPr id="20" name="Text 18"/>
          <p:cNvSpPr/>
          <p:nvPr/>
        </p:nvSpPr>
        <p:spPr>
          <a:xfrm>
            <a:off x="5029200" y="3931920"/>
            <a:ext cx="1005840" cy="365760"/>
          </a:xfrm>
          <a:prstGeom prst="rect">
            <a:avLst/>
          </a:prstGeom>
          <a:noFill/>
          <a:ln/>
        </p:spPr>
        <p:txBody>
          <a:bodyPr wrap="square" rtlCol="0" anchor="ctr"/>
          <a:lstStyle/>
          <a:p>
            <a:pPr algn="r" indent="0" marL="0">
              <a:buNone/>
            </a:pPr>
            <a:r>
              <a:rPr lang="en-US" sz="1000" b="1" spc="300" kern="0" dirty="0">
                <a:solidFill>
                  <a:srgbClr val="2C7A4B"/>
                </a:solidFill>
                <a:latin typeface="Calibri" pitchFamily="34" charset="0"/>
                <a:ea typeface="Calibri" pitchFamily="34" charset="-122"/>
                <a:cs typeface="Calibri" pitchFamily="34" charset="-120"/>
              </a:rPr>
              <a:t>LIVE</a:t>
            </a:r>
            <a:endParaRPr lang="en-US" sz="1000" dirty="0"/>
          </a:p>
        </p:txBody>
      </p:sp>
      <p:sp>
        <p:nvSpPr>
          <p:cNvPr id="21" name="Shape 19"/>
          <p:cNvSpPr/>
          <p:nvPr/>
        </p:nvSpPr>
        <p:spPr>
          <a:xfrm>
            <a:off x="502920" y="4343400"/>
            <a:ext cx="5532120" cy="0"/>
          </a:xfrm>
          <a:prstGeom prst="line">
            <a:avLst/>
          </a:prstGeom>
          <a:noFill/>
          <a:ln w="6350">
            <a:solidFill>
              <a:srgbClr val="E4E1DA"/>
            </a:solidFill>
            <a:prstDash val="solid"/>
          </a:ln>
        </p:spPr>
      </p:sp>
      <p:sp>
        <p:nvSpPr>
          <p:cNvPr id="22" name="Shape 20"/>
          <p:cNvSpPr/>
          <p:nvPr/>
        </p:nvSpPr>
        <p:spPr>
          <a:xfrm>
            <a:off x="6309360" y="4023360"/>
            <a:ext cx="164592" cy="164592"/>
          </a:xfrm>
          <a:prstGeom prst="ellipse">
            <a:avLst/>
          </a:prstGeom>
          <a:solidFill>
            <a:srgbClr val="2C7A4B"/>
          </a:solidFill>
          <a:ln/>
        </p:spPr>
      </p:sp>
      <p:sp>
        <p:nvSpPr>
          <p:cNvPr id="23" name="Text 21"/>
          <p:cNvSpPr/>
          <p:nvPr/>
        </p:nvSpPr>
        <p:spPr>
          <a:xfrm>
            <a:off x="6583680" y="39319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PRUrgent</a:t>
            </a:r>
            <a:endParaRPr lang="en-US" sz="1500" dirty="0"/>
          </a:p>
        </p:txBody>
      </p:sp>
      <p:sp>
        <p:nvSpPr>
          <p:cNvPr id="24" name="Text 22"/>
          <p:cNvSpPr/>
          <p:nvPr/>
        </p:nvSpPr>
        <p:spPr>
          <a:xfrm>
            <a:off x="9464040" y="39319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BUSINESS</a:t>
            </a:r>
            <a:endParaRPr lang="en-US" sz="1000" dirty="0"/>
          </a:p>
        </p:txBody>
      </p:sp>
      <p:sp>
        <p:nvSpPr>
          <p:cNvPr id="25" name="Text 23"/>
          <p:cNvSpPr/>
          <p:nvPr/>
        </p:nvSpPr>
        <p:spPr>
          <a:xfrm>
            <a:off x="10835640" y="3931920"/>
            <a:ext cx="1005840" cy="365760"/>
          </a:xfrm>
          <a:prstGeom prst="rect">
            <a:avLst/>
          </a:prstGeom>
          <a:noFill/>
          <a:ln/>
        </p:spPr>
        <p:txBody>
          <a:bodyPr wrap="square" rtlCol="0" anchor="ctr"/>
          <a:lstStyle/>
          <a:p>
            <a:pPr algn="r" indent="0" marL="0">
              <a:buNone/>
            </a:pPr>
            <a:r>
              <a:rPr lang="en-US" sz="1000" b="1" spc="300" kern="0" dirty="0">
                <a:solidFill>
                  <a:srgbClr val="2C7A4B"/>
                </a:solidFill>
                <a:latin typeface="Calibri" pitchFamily="34" charset="0"/>
                <a:ea typeface="Calibri" pitchFamily="34" charset="-122"/>
                <a:cs typeface="Calibri" pitchFamily="34" charset="-120"/>
              </a:rPr>
              <a:t>LIVE</a:t>
            </a:r>
            <a:endParaRPr lang="en-US" sz="1000" dirty="0"/>
          </a:p>
        </p:txBody>
      </p:sp>
      <p:sp>
        <p:nvSpPr>
          <p:cNvPr id="26" name="Shape 24"/>
          <p:cNvSpPr/>
          <p:nvPr/>
        </p:nvSpPr>
        <p:spPr>
          <a:xfrm>
            <a:off x="6309360" y="4343400"/>
            <a:ext cx="5532120" cy="0"/>
          </a:xfrm>
          <a:prstGeom prst="line">
            <a:avLst/>
          </a:prstGeom>
          <a:noFill/>
          <a:ln w="6350">
            <a:solidFill>
              <a:srgbClr val="E4E1DA"/>
            </a:solidFill>
            <a:prstDash val="solid"/>
          </a:ln>
        </p:spPr>
      </p:sp>
      <p:sp>
        <p:nvSpPr>
          <p:cNvPr id="27" name="Shape 25"/>
          <p:cNvSpPr/>
          <p:nvPr/>
        </p:nvSpPr>
        <p:spPr>
          <a:xfrm>
            <a:off x="502920" y="4480560"/>
            <a:ext cx="164592" cy="164592"/>
          </a:xfrm>
          <a:prstGeom prst="ellipse">
            <a:avLst/>
          </a:prstGeom>
          <a:solidFill>
            <a:srgbClr val="2C7A4B"/>
          </a:solidFill>
          <a:ln/>
        </p:spPr>
      </p:sp>
      <p:sp>
        <p:nvSpPr>
          <p:cNvPr id="28" name="Text 26"/>
          <p:cNvSpPr/>
          <p:nvPr/>
        </p:nvSpPr>
        <p:spPr>
          <a:xfrm>
            <a:off x="777240" y="43891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PRLog</a:t>
            </a:r>
            <a:endParaRPr lang="en-US" sz="1500" dirty="0"/>
          </a:p>
        </p:txBody>
      </p:sp>
      <p:sp>
        <p:nvSpPr>
          <p:cNvPr id="29" name="Text 27"/>
          <p:cNvSpPr/>
          <p:nvPr/>
        </p:nvSpPr>
        <p:spPr>
          <a:xfrm>
            <a:off x="3657600" y="43891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BUSINESS</a:t>
            </a:r>
            <a:endParaRPr lang="en-US" sz="1000" dirty="0"/>
          </a:p>
        </p:txBody>
      </p:sp>
      <p:sp>
        <p:nvSpPr>
          <p:cNvPr id="30" name="Text 28"/>
          <p:cNvSpPr/>
          <p:nvPr/>
        </p:nvSpPr>
        <p:spPr>
          <a:xfrm>
            <a:off x="5029200" y="4389120"/>
            <a:ext cx="1005840" cy="365760"/>
          </a:xfrm>
          <a:prstGeom prst="rect">
            <a:avLst/>
          </a:prstGeom>
          <a:noFill/>
          <a:ln/>
        </p:spPr>
        <p:txBody>
          <a:bodyPr wrap="square" rtlCol="0" anchor="ctr"/>
          <a:lstStyle/>
          <a:p>
            <a:pPr algn="r" indent="0" marL="0">
              <a:buNone/>
            </a:pPr>
            <a:r>
              <a:rPr lang="en-US" sz="1000" b="1" spc="300" kern="0" dirty="0">
                <a:solidFill>
                  <a:srgbClr val="2C7A4B"/>
                </a:solidFill>
                <a:latin typeface="Calibri" pitchFamily="34" charset="0"/>
                <a:ea typeface="Calibri" pitchFamily="34" charset="-122"/>
                <a:cs typeface="Calibri" pitchFamily="34" charset="-120"/>
              </a:rPr>
              <a:t>LIVE</a:t>
            </a:r>
            <a:endParaRPr lang="en-US" sz="1000" dirty="0"/>
          </a:p>
        </p:txBody>
      </p:sp>
      <p:sp>
        <p:nvSpPr>
          <p:cNvPr id="31" name="Shape 29"/>
          <p:cNvSpPr/>
          <p:nvPr/>
        </p:nvSpPr>
        <p:spPr>
          <a:xfrm>
            <a:off x="502920" y="4800600"/>
            <a:ext cx="5532120" cy="0"/>
          </a:xfrm>
          <a:prstGeom prst="line">
            <a:avLst/>
          </a:prstGeom>
          <a:noFill/>
          <a:ln w="6350">
            <a:solidFill>
              <a:srgbClr val="E4E1DA"/>
            </a:solidFill>
            <a:prstDash val="solid"/>
          </a:ln>
        </p:spPr>
      </p:sp>
      <p:sp>
        <p:nvSpPr>
          <p:cNvPr id="32" name="Shape 30"/>
          <p:cNvSpPr/>
          <p:nvPr/>
        </p:nvSpPr>
        <p:spPr>
          <a:xfrm>
            <a:off x="6309360" y="4480560"/>
            <a:ext cx="164592" cy="164592"/>
          </a:xfrm>
          <a:prstGeom prst="ellipse">
            <a:avLst/>
          </a:prstGeom>
          <a:solidFill>
            <a:srgbClr val="2C7A4B"/>
          </a:solidFill>
          <a:ln/>
        </p:spPr>
      </p:sp>
      <p:sp>
        <p:nvSpPr>
          <p:cNvPr id="33" name="Text 31"/>
          <p:cNvSpPr/>
          <p:nvPr/>
        </p:nvSpPr>
        <p:spPr>
          <a:xfrm>
            <a:off x="6583680" y="43891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IssueWire</a:t>
            </a:r>
            <a:endParaRPr lang="en-US" sz="1500" dirty="0"/>
          </a:p>
        </p:txBody>
      </p:sp>
      <p:sp>
        <p:nvSpPr>
          <p:cNvPr id="34" name="Text 32"/>
          <p:cNvSpPr/>
          <p:nvPr/>
        </p:nvSpPr>
        <p:spPr>
          <a:xfrm>
            <a:off x="9464040" y="43891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FLAGSHIP</a:t>
            </a:r>
            <a:endParaRPr lang="en-US" sz="1000" dirty="0"/>
          </a:p>
        </p:txBody>
      </p:sp>
      <p:sp>
        <p:nvSpPr>
          <p:cNvPr id="35" name="Text 33"/>
          <p:cNvSpPr/>
          <p:nvPr/>
        </p:nvSpPr>
        <p:spPr>
          <a:xfrm>
            <a:off x="10835640" y="4389120"/>
            <a:ext cx="1005840" cy="365760"/>
          </a:xfrm>
          <a:prstGeom prst="rect">
            <a:avLst/>
          </a:prstGeom>
          <a:noFill/>
          <a:ln/>
        </p:spPr>
        <p:txBody>
          <a:bodyPr wrap="square" rtlCol="0" anchor="ctr"/>
          <a:lstStyle/>
          <a:p>
            <a:pPr algn="r" indent="0" marL="0">
              <a:buNone/>
            </a:pPr>
            <a:r>
              <a:rPr lang="en-US" sz="1000" b="1" spc="300" kern="0" dirty="0">
                <a:solidFill>
                  <a:srgbClr val="2C7A4B"/>
                </a:solidFill>
                <a:latin typeface="Calibri" pitchFamily="34" charset="0"/>
                <a:ea typeface="Calibri" pitchFamily="34" charset="-122"/>
                <a:cs typeface="Calibri" pitchFamily="34" charset="-120"/>
              </a:rPr>
              <a:t>LIVE</a:t>
            </a:r>
            <a:endParaRPr lang="en-US" sz="1000" dirty="0"/>
          </a:p>
        </p:txBody>
      </p:sp>
      <p:sp>
        <p:nvSpPr>
          <p:cNvPr id="36" name="Shape 34"/>
          <p:cNvSpPr/>
          <p:nvPr/>
        </p:nvSpPr>
        <p:spPr>
          <a:xfrm>
            <a:off x="6309360" y="4800600"/>
            <a:ext cx="5532120" cy="0"/>
          </a:xfrm>
          <a:prstGeom prst="line">
            <a:avLst/>
          </a:prstGeom>
          <a:noFill/>
          <a:ln w="6350">
            <a:solidFill>
              <a:srgbClr val="E4E1DA"/>
            </a:solidFill>
            <a:prstDash val="solid"/>
          </a:ln>
        </p:spPr>
      </p:sp>
      <p:sp>
        <p:nvSpPr>
          <p:cNvPr id="37" name="Shape 35"/>
          <p:cNvSpPr/>
          <p:nvPr/>
        </p:nvSpPr>
        <p:spPr>
          <a:xfrm>
            <a:off x="502920" y="4937760"/>
            <a:ext cx="164592" cy="164592"/>
          </a:xfrm>
          <a:prstGeom prst="ellipse">
            <a:avLst/>
          </a:prstGeom>
          <a:solidFill>
            <a:srgbClr val="2C7A4B"/>
          </a:solidFill>
          <a:ln/>
        </p:spPr>
      </p:sp>
      <p:sp>
        <p:nvSpPr>
          <p:cNvPr id="38" name="Text 36"/>
          <p:cNvSpPr/>
          <p:nvPr/>
        </p:nvSpPr>
        <p:spPr>
          <a:xfrm>
            <a:off x="777240" y="48463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PRFree</a:t>
            </a:r>
            <a:endParaRPr lang="en-US" sz="1500" dirty="0"/>
          </a:p>
        </p:txBody>
      </p:sp>
      <p:sp>
        <p:nvSpPr>
          <p:cNvPr id="39" name="Text 37"/>
          <p:cNvSpPr/>
          <p:nvPr/>
        </p:nvSpPr>
        <p:spPr>
          <a:xfrm>
            <a:off x="3657600" y="48463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CONSUMER</a:t>
            </a:r>
            <a:endParaRPr lang="en-US" sz="1000" dirty="0"/>
          </a:p>
        </p:txBody>
      </p:sp>
      <p:sp>
        <p:nvSpPr>
          <p:cNvPr id="40" name="Text 38"/>
          <p:cNvSpPr/>
          <p:nvPr/>
        </p:nvSpPr>
        <p:spPr>
          <a:xfrm>
            <a:off x="5029200" y="4846320"/>
            <a:ext cx="1005840" cy="365760"/>
          </a:xfrm>
          <a:prstGeom prst="rect">
            <a:avLst/>
          </a:prstGeom>
          <a:noFill/>
          <a:ln/>
        </p:spPr>
        <p:txBody>
          <a:bodyPr wrap="square" rtlCol="0" anchor="ctr"/>
          <a:lstStyle/>
          <a:p>
            <a:pPr algn="r" indent="0" marL="0">
              <a:buNone/>
            </a:pPr>
            <a:r>
              <a:rPr lang="en-US" sz="1000" b="1" spc="300" kern="0" dirty="0">
                <a:solidFill>
                  <a:srgbClr val="2C7A4B"/>
                </a:solidFill>
                <a:latin typeface="Calibri" pitchFamily="34" charset="0"/>
                <a:ea typeface="Calibri" pitchFamily="34" charset="-122"/>
                <a:cs typeface="Calibri" pitchFamily="34" charset="-120"/>
              </a:rPr>
              <a:t>LIVE</a:t>
            </a:r>
            <a:endParaRPr lang="en-US" sz="1000" dirty="0"/>
          </a:p>
        </p:txBody>
      </p:sp>
      <p:sp>
        <p:nvSpPr>
          <p:cNvPr id="41" name="Shape 39"/>
          <p:cNvSpPr/>
          <p:nvPr/>
        </p:nvSpPr>
        <p:spPr>
          <a:xfrm>
            <a:off x="502920" y="5257800"/>
            <a:ext cx="5532120" cy="0"/>
          </a:xfrm>
          <a:prstGeom prst="line">
            <a:avLst/>
          </a:prstGeom>
          <a:noFill/>
          <a:ln w="6350">
            <a:solidFill>
              <a:srgbClr val="E4E1DA"/>
            </a:solidFill>
            <a:prstDash val="solid"/>
          </a:ln>
        </p:spPr>
      </p:sp>
      <p:sp>
        <p:nvSpPr>
          <p:cNvPr id="42" name="Shape 40"/>
          <p:cNvSpPr/>
          <p:nvPr/>
        </p:nvSpPr>
        <p:spPr>
          <a:xfrm>
            <a:off x="6309360" y="4937760"/>
            <a:ext cx="164592" cy="164592"/>
          </a:xfrm>
          <a:prstGeom prst="ellipse">
            <a:avLst/>
          </a:prstGeom>
          <a:solidFill>
            <a:srgbClr val="2C7A4B"/>
          </a:solidFill>
          <a:ln/>
        </p:spPr>
      </p:sp>
      <p:sp>
        <p:nvSpPr>
          <p:cNvPr id="43" name="Text 41"/>
          <p:cNvSpPr/>
          <p:nvPr/>
        </p:nvSpPr>
        <p:spPr>
          <a:xfrm>
            <a:off x="6583680" y="48463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MarketPressRelease</a:t>
            </a:r>
            <a:endParaRPr lang="en-US" sz="1500" dirty="0"/>
          </a:p>
        </p:txBody>
      </p:sp>
      <p:sp>
        <p:nvSpPr>
          <p:cNvPr id="44" name="Text 42"/>
          <p:cNvSpPr/>
          <p:nvPr/>
        </p:nvSpPr>
        <p:spPr>
          <a:xfrm>
            <a:off x="9464040" y="48463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CONSUMER</a:t>
            </a:r>
            <a:endParaRPr lang="en-US" sz="1000" dirty="0"/>
          </a:p>
        </p:txBody>
      </p:sp>
      <p:sp>
        <p:nvSpPr>
          <p:cNvPr id="45" name="Text 43"/>
          <p:cNvSpPr/>
          <p:nvPr/>
        </p:nvSpPr>
        <p:spPr>
          <a:xfrm>
            <a:off x="10835640" y="4846320"/>
            <a:ext cx="1005840" cy="365760"/>
          </a:xfrm>
          <a:prstGeom prst="rect">
            <a:avLst/>
          </a:prstGeom>
          <a:noFill/>
          <a:ln/>
        </p:spPr>
        <p:txBody>
          <a:bodyPr wrap="square" rtlCol="0" anchor="ctr"/>
          <a:lstStyle/>
          <a:p>
            <a:pPr algn="r" indent="0" marL="0">
              <a:buNone/>
            </a:pPr>
            <a:r>
              <a:rPr lang="en-US" sz="1000" b="1" spc="300" kern="0" dirty="0">
                <a:solidFill>
                  <a:srgbClr val="2C7A4B"/>
                </a:solidFill>
                <a:latin typeface="Calibri" pitchFamily="34" charset="0"/>
                <a:ea typeface="Calibri" pitchFamily="34" charset="-122"/>
                <a:cs typeface="Calibri" pitchFamily="34" charset="-120"/>
              </a:rPr>
              <a:t>LIVE</a:t>
            </a:r>
            <a:endParaRPr lang="en-US" sz="1000" dirty="0"/>
          </a:p>
        </p:txBody>
      </p:sp>
      <p:sp>
        <p:nvSpPr>
          <p:cNvPr id="46" name="Shape 44"/>
          <p:cNvSpPr/>
          <p:nvPr/>
        </p:nvSpPr>
        <p:spPr>
          <a:xfrm>
            <a:off x="6309360" y="5257800"/>
            <a:ext cx="5532120" cy="0"/>
          </a:xfrm>
          <a:prstGeom prst="line">
            <a:avLst/>
          </a:prstGeom>
          <a:noFill/>
          <a:ln w="6350">
            <a:solidFill>
              <a:srgbClr val="E4E1DA"/>
            </a:solidFill>
            <a:prstDash val="solid"/>
          </a:ln>
        </p:spPr>
      </p:sp>
      <p:sp>
        <p:nvSpPr>
          <p:cNvPr id="47" name="Shape 45"/>
          <p:cNvSpPr/>
          <p:nvPr/>
        </p:nvSpPr>
        <p:spPr>
          <a:xfrm>
            <a:off x="502920" y="5394960"/>
            <a:ext cx="164592" cy="164592"/>
          </a:xfrm>
          <a:prstGeom prst="ellipse">
            <a:avLst/>
          </a:prstGeom>
          <a:solidFill>
            <a:srgbClr val="B0730F"/>
          </a:solidFill>
          <a:ln/>
        </p:spPr>
      </p:sp>
      <p:sp>
        <p:nvSpPr>
          <p:cNvPr id="48" name="Text 46"/>
          <p:cNvSpPr/>
          <p:nvPr/>
        </p:nvSpPr>
        <p:spPr>
          <a:xfrm>
            <a:off x="777240" y="53035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1888 Press Release</a:t>
            </a:r>
            <a:endParaRPr lang="en-US" sz="1500" dirty="0"/>
          </a:p>
        </p:txBody>
      </p:sp>
      <p:sp>
        <p:nvSpPr>
          <p:cNvPr id="49" name="Text 47"/>
          <p:cNvSpPr/>
          <p:nvPr/>
        </p:nvSpPr>
        <p:spPr>
          <a:xfrm>
            <a:off x="3657600" y="53035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FLAGSHIP</a:t>
            </a:r>
            <a:endParaRPr lang="en-US" sz="1000" dirty="0"/>
          </a:p>
        </p:txBody>
      </p:sp>
      <p:sp>
        <p:nvSpPr>
          <p:cNvPr id="50" name="Text 48"/>
          <p:cNvSpPr/>
          <p:nvPr/>
        </p:nvSpPr>
        <p:spPr>
          <a:xfrm>
            <a:off x="5029200" y="5303520"/>
            <a:ext cx="1005840" cy="365760"/>
          </a:xfrm>
          <a:prstGeom prst="rect">
            <a:avLst/>
          </a:prstGeom>
          <a:noFill/>
          <a:ln/>
        </p:spPr>
        <p:txBody>
          <a:bodyPr wrap="square" rtlCol="0" anchor="ctr"/>
          <a:lstStyle/>
          <a:p>
            <a:pPr algn="r" indent="0" marL="0">
              <a:buNone/>
            </a:pPr>
            <a:r>
              <a:rPr lang="en-US" sz="1000" b="1" spc="300" kern="0" dirty="0">
                <a:solidFill>
                  <a:srgbClr val="B0730F"/>
                </a:solidFill>
                <a:latin typeface="Calibri" pitchFamily="34" charset="0"/>
                <a:ea typeface="Calibri" pitchFamily="34" charset="-122"/>
                <a:cs typeface="Calibri" pitchFamily="34" charset="-120"/>
              </a:rPr>
              <a:t>QUEUED</a:t>
            </a:r>
            <a:endParaRPr lang="en-US" sz="1000" dirty="0"/>
          </a:p>
        </p:txBody>
      </p:sp>
      <p:sp>
        <p:nvSpPr>
          <p:cNvPr id="51" name="Shape 49"/>
          <p:cNvSpPr/>
          <p:nvPr/>
        </p:nvSpPr>
        <p:spPr>
          <a:xfrm>
            <a:off x="6309360" y="5394960"/>
            <a:ext cx="164592" cy="164592"/>
          </a:xfrm>
          <a:prstGeom prst="ellipse">
            <a:avLst/>
          </a:prstGeom>
          <a:solidFill>
            <a:srgbClr val="B0730F"/>
          </a:solidFill>
          <a:ln/>
        </p:spPr>
      </p:sp>
      <p:sp>
        <p:nvSpPr>
          <p:cNvPr id="52" name="Text 50"/>
          <p:cNvSpPr/>
          <p:nvPr/>
        </p:nvSpPr>
        <p:spPr>
          <a:xfrm>
            <a:off x="6583680" y="5303520"/>
            <a:ext cx="3200400" cy="365760"/>
          </a:xfrm>
          <a:prstGeom prst="rect">
            <a:avLst/>
          </a:prstGeom>
          <a:noFill/>
          <a:ln/>
        </p:spPr>
        <p:txBody>
          <a:bodyPr wrap="square" rtlCol="0" anchor="ctr"/>
          <a:lstStyle/>
          <a:p>
            <a:pPr indent="0" marL="0">
              <a:buNone/>
            </a:pPr>
            <a:r>
              <a:rPr lang="en-US" sz="1500" b="1" dirty="0">
                <a:solidFill>
                  <a:srgbClr val="111318"/>
                </a:solidFill>
                <a:latin typeface="Trebuchet MS" pitchFamily="34" charset="0"/>
                <a:ea typeface="Trebuchet MS" pitchFamily="34" charset="-122"/>
                <a:cs typeface="Trebuchet MS" pitchFamily="34" charset="-120"/>
              </a:rPr>
              <a:t>EIN Presswire</a:t>
            </a:r>
            <a:endParaRPr lang="en-US" sz="1500" dirty="0"/>
          </a:p>
        </p:txBody>
      </p:sp>
      <p:sp>
        <p:nvSpPr>
          <p:cNvPr id="53" name="Text 51"/>
          <p:cNvSpPr/>
          <p:nvPr/>
        </p:nvSpPr>
        <p:spPr>
          <a:xfrm>
            <a:off x="9464040" y="5303520"/>
            <a:ext cx="1371600" cy="365760"/>
          </a:xfrm>
          <a:prstGeom prst="rect">
            <a:avLst/>
          </a:prstGeom>
          <a:noFill/>
          <a:ln/>
        </p:spPr>
        <p:txBody>
          <a:bodyPr wrap="square" rtlCol="0" anchor="ctr"/>
          <a:lstStyle/>
          <a:p>
            <a:pPr indent="0" marL="0">
              <a:buNone/>
            </a:pPr>
            <a:r>
              <a:rPr lang="en-US" sz="1000" b="1" spc="300" kern="0" dirty="0">
                <a:solidFill>
                  <a:srgbClr val="6B6E74"/>
                </a:solidFill>
                <a:latin typeface="Calibri" pitchFamily="34" charset="0"/>
                <a:ea typeface="Calibri" pitchFamily="34" charset="-122"/>
                <a:cs typeface="Calibri" pitchFamily="34" charset="-120"/>
              </a:rPr>
              <a:t>FLAGSHIP</a:t>
            </a:r>
            <a:endParaRPr lang="en-US" sz="1000" dirty="0"/>
          </a:p>
        </p:txBody>
      </p:sp>
      <p:sp>
        <p:nvSpPr>
          <p:cNvPr id="54" name="Text 52"/>
          <p:cNvSpPr/>
          <p:nvPr/>
        </p:nvSpPr>
        <p:spPr>
          <a:xfrm>
            <a:off x="10835640" y="5303520"/>
            <a:ext cx="1005840" cy="365760"/>
          </a:xfrm>
          <a:prstGeom prst="rect">
            <a:avLst/>
          </a:prstGeom>
          <a:noFill/>
          <a:ln/>
        </p:spPr>
        <p:txBody>
          <a:bodyPr wrap="square" rtlCol="0" anchor="ctr"/>
          <a:lstStyle/>
          <a:p>
            <a:pPr algn="r" indent="0" marL="0">
              <a:buNone/>
            </a:pPr>
            <a:r>
              <a:rPr lang="en-US" sz="1000" b="1" spc="300" kern="0" dirty="0">
                <a:solidFill>
                  <a:srgbClr val="B0730F"/>
                </a:solidFill>
                <a:latin typeface="Calibri" pitchFamily="34" charset="0"/>
                <a:ea typeface="Calibri" pitchFamily="34" charset="-122"/>
                <a:cs typeface="Calibri" pitchFamily="34" charset="-120"/>
              </a:rPr>
              <a:t>QUEUED</a:t>
            </a:r>
            <a:endParaRPr lang="en-US" sz="1000" dirty="0"/>
          </a:p>
        </p:txBody>
      </p:sp>
      <p:sp>
        <p:nvSpPr>
          <p:cNvPr id="55" name="Text 53"/>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56" name="Text 54"/>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01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IssueWire</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FLAGSHIP ARTICLE  ·  ARTICLE 1</a:t>
            </a:r>
            <a:endParaRPr lang="en-US" sz="1400" dirty="0"/>
          </a:p>
        </p:txBody>
      </p:sp>
      <p:sp>
        <p:nvSpPr>
          <p:cNvPr id="5" name="Shape 3"/>
          <p:cNvSpPr/>
          <p:nvPr/>
        </p:nvSpPr>
        <p:spPr>
          <a:xfrm>
            <a:off x="6080760" y="1207008"/>
            <a:ext cx="777240" cy="292608"/>
          </a:xfrm>
          <a:prstGeom prst="roundRect">
            <a:avLst>
              <a:gd name="adj" fmla="val 15625"/>
            </a:avLst>
          </a:prstGeom>
          <a:solidFill>
            <a:srgbClr val="2C7A4B"/>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issuewire.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The Leading EdTech Company eTeacher Group Enters the $8 Trillion Longevity Market With Longevity Life Academy</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The full launch story. After 25 years and 400,000+ courses across nearly 200 countries, eTeacher Group opens its sixth online school — a live, teacher-led academy for healthy aging, with an Abbott Lingo continuous glucose monitor shipped to every US student before Lesson 5. UBS projects the longevity market will reach roughly $8 trillion by 2030. LLA occupies the middle ground between concierge clinics and unvetted online advice — with the same live cohort model that helped 10,000+ learners a year finish what they started.</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Flagship — $8T Longevity Market</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Live · HTTP 200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issuewire.com/the-leading-edtech-company-eteacher-group-enters-the-8-trillion-longevity-market...</a:t>
            </a:r>
            <a:endParaRPr lang="en-US" sz="900" dirty="0"/>
          </a:p>
        </p:txBody>
      </p:sp>
      <p:pic>
        <p:nvPicPr>
          <p:cNvPr id="27" name="Image 1" descr="/home/user/workspace/lla_pr/deck_assets/screenshots/issuewire.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Open live article: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issuewire.com/the-leading-edtech-company-eteacher-group-enters-the-8-trillion-longevity-market...</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02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PR.com</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BUSINESS ANGLE  ·  ARTICLE 2</a:t>
            </a:r>
            <a:endParaRPr lang="en-US" sz="1400" dirty="0"/>
          </a:p>
        </p:txBody>
      </p:sp>
      <p:sp>
        <p:nvSpPr>
          <p:cNvPr id="5" name="Shape 3"/>
          <p:cNvSpPr/>
          <p:nvPr/>
        </p:nvSpPr>
        <p:spPr>
          <a:xfrm>
            <a:off x="6080760" y="1207008"/>
            <a:ext cx="777240" cy="292608"/>
          </a:xfrm>
          <a:prstGeom prst="roundRect">
            <a:avLst>
              <a:gd name="adj" fmla="val 15625"/>
            </a:avLst>
          </a:prstGeom>
          <a:solidFill>
            <a:srgbClr val="2C7A4B"/>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pr_com.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Launches Longevity Life Academy to Open the $8 Trillion Longevity Market to Everyday Americans</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The business angle. Between $2-million concierge clinics and free unverified advice sits the mainstream American household no one serves well. eTeacher's edge isn't a lower price — it's a global-leading teaching engine now brought to healthspan, from $289 a month. Roughly 70% of eTeacher's customers are already in the US, with a proven billing and retention engine behind every school. Distributed to PR.com's syndication network with a full company profile page.</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Business — Open the Market</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Live · HTTP 200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pr.com/press-release/973819</a:t>
            </a:r>
            <a:endParaRPr lang="en-US" sz="900" dirty="0"/>
          </a:p>
        </p:txBody>
      </p:sp>
      <p:pic>
        <p:nvPicPr>
          <p:cNvPr id="27" name="Image 1" descr="/home/user/workspace/lla_pr/deck_assets/screenshots/pr_com.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Open live article: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pr.com/press-release/973819</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03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PRUrgent</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BUSINESS ANGLE  ·  ARTICLE 2</a:t>
            </a:r>
            <a:endParaRPr lang="en-US" sz="1400" dirty="0"/>
          </a:p>
        </p:txBody>
      </p:sp>
      <p:sp>
        <p:nvSpPr>
          <p:cNvPr id="5" name="Shape 3"/>
          <p:cNvSpPr/>
          <p:nvPr/>
        </p:nvSpPr>
        <p:spPr>
          <a:xfrm>
            <a:off x="6080760" y="1207008"/>
            <a:ext cx="777240" cy="292608"/>
          </a:xfrm>
          <a:prstGeom prst="roundRect">
            <a:avLst>
              <a:gd name="adj" fmla="val 15625"/>
            </a:avLst>
          </a:prstGeom>
          <a:solidFill>
            <a:srgbClr val="2C7A4B"/>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prurgent.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Launches Longevity Life Academy to Open the $8 Trillion Longevity Market to Everyday Americans</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PRUrgent picked up the business angle within hours. Miami dateline retained. Full boilerplate with Harel Tayeb, CEO of eTeacher Group as public contact. Direct syndication to PRUrgent's newsroom feed plus permanent archive at the pressrelease476632 permalink — indexed by Google within the same day.</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Business — Open the Market</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Live · HTTP 200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prurgent.com/2026-07-19/pressrelease476632.htm</a:t>
            </a:r>
            <a:endParaRPr lang="en-US" sz="900" dirty="0"/>
          </a:p>
        </p:txBody>
      </p:sp>
      <p:pic>
        <p:nvPicPr>
          <p:cNvPr id="27" name="Image 1" descr="/home/user/workspace/lla_pr/deck_assets/screenshots/prurgent.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Open live article: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prurgent.com/2026-07-19/pressrelease476632.htm</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04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PRLog</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BUSINESS ANGLE  ·  ARTICLE 2</a:t>
            </a:r>
            <a:endParaRPr lang="en-US" sz="1400" dirty="0"/>
          </a:p>
        </p:txBody>
      </p:sp>
      <p:sp>
        <p:nvSpPr>
          <p:cNvPr id="5" name="Shape 3"/>
          <p:cNvSpPr/>
          <p:nvPr/>
        </p:nvSpPr>
        <p:spPr>
          <a:xfrm>
            <a:off x="6080760" y="1207008"/>
            <a:ext cx="777240" cy="292608"/>
          </a:xfrm>
          <a:prstGeom prst="roundRect">
            <a:avLst>
              <a:gd name="adj" fmla="val 15625"/>
            </a:avLst>
          </a:prstGeom>
          <a:solidFill>
            <a:srgbClr val="2C7A4B"/>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prlog.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Launches Longevity Life Academy to Open the $8 Trillion Market to Everyday Americans</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Clean replacement release. The original PRLog draft (13158509) contained legacy language that has since been eliminated across all channels — we removed it entirely and republished as 13159273 with the approved business article, correct sixth-school framing, Miami dateline, and Harel Tayeb as public contact. Full article body, tags, and pressroom entry all indexed.</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Business — Open the Market</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Live · HTTP 200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prlog.org/13159273-eteacher-group-launches-longevity-life-academy...</a:t>
            </a:r>
            <a:endParaRPr lang="en-US" sz="900" dirty="0"/>
          </a:p>
        </p:txBody>
      </p:sp>
      <p:pic>
        <p:nvPicPr>
          <p:cNvPr id="27" name="Image 1" descr="/home/user/workspace/lla_pr/deck_assets/screenshots/prlog.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Open live article: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prlog.org/13159273-eteacher-group-launches-longevity-life-academy...</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05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PRFree</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CONSUMER ANGLE  ·  ARTICLE 3</a:t>
            </a:r>
            <a:endParaRPr lang="en-US" sz="1400" dirty="0"/>
          </a:p>
        </p:txBody>
      </p:sp>
      <p:sp>
        <p:nvSpPr>
          <p:cNvPr id="5" name="Shape 3"/>
          <p:cNvSpPr/>
          <p:nvPr/>
        </p:nvSpPr>
        <p:spPr>
          <a:xfrm>
            <a:off x="6080760" y="1207008"/>
            <a:ext cx="777240" cy="292608"/>
          </a:xfrm>
          <a:prstGeom prst="roundRect">
            <a:avLst>
              <a:gd name="adj" fmla="val 15625"/>
            </a:avLst>
          </a:prstGeom>
          <a:solidFill>
            <a:srgbClr val="2C7A4B"/>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prfree.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Launches Longevity Life Academy: Science-Backed Longevity, Built on Your Numbers</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The consumer-facing story. Longevity has a reputation for being expensive, intimidating, and impossible to stick with. LLA's answer is method, not money — the same live, community-driven approach that helped hundreds of thousands of eTeacher learners finish what they started, now aimed at healthy aging. Tuition from $289/month. Continuous glucose monitor included. Published under the @omrigitter author profile on news.prfree.org.</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Consumer — Built on Your Numbers</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Live · HTTP 200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news.prfree.org/@omrigitter/eteacher-group-launches-longevity-life-academy...</a:t>
            </a:r>
            <a:endParaRPr lang="en-US" sz="900" dirty="0"/>
          </a:p>
        </p:txBody>
      </p:sp>
      <p:pic>
        <p:nvPicPr>
          <p:cNvPr id="27" name="Image 1" descr="/home/user/workspace/lla_pr/deck_assets/screenshots/prfree.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Open live article: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news.prfree.org/@omrigitter/eteacher-group-launches-longevity-life-academy...</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06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MarketPressRelease</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CONSUMER ANGLE  ·  ARTICLE 3</a:t>
            </a:r>
            <a:endParaRPr lang="en-US" sz="1400" dirty="0"/>
          </a:p>
        </p:txBody>
      </p:sp>
      <p:sp>
        <p:nvSpPr>
          <p:cNvPr id="5" name="Shape 3"/>
          <p:cNvSpPr/>
          <p:nvPr/>
        </p:nvSpPr>
        <p:spPr>
          <a:xfrm>
            <a:off x="6080760" y="1207008"/>
            <a:ext cx="777240" cy="292608"/>
          </a:xfrm>
          <a:prstGeom prst="roundRect">
            <a:avLst>
              <a:gd name="adj" fmla="val 15625"/>
            </a:avLst>
          </a:prstGeom>
          <a:solidFill>
            <a:srgbClr val="2C7A4B"/>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marketpr.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Launches Longevity Life Academy: Science-Backed Longevity, Built on Your Numbers</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Newly moderated through this morning. Featured directly on the MarketPressRelease homepage under the July 19 tile. Full article body, contact block with Harel Tayeb / Miami / +1-888-230-5110, and industry-related sidebar cross-linking. Sixth-school framing appears six times in the body — clean throughout.</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Consumer — Built on Your Numbers</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Live · HTTP 200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marketpressrelease.com/eTeacher-Group-Launches-Longevity-Life-Academy...</a:t>
            </a:r>
            <a:endParaRPr lang="en-US" sz="900" dirty="0"/>
          </a:p>
        </p:txBody>
      </p:sp>
      <p:pic>
        <p:nvPicPr>
          <p:cNvPr id="27" name="Image 1" descr="/home/user/workspace/lla_pr/deck_assets/screenshots/marketpr.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Open live article: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marketpressrelease.com/eTeacher-Group-Launches-Longevity-Life-Academy...</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07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1888 Press Release</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FLAGSHIP ARTICLE  ·  ARTICLE 1</a:t>
            </a:r>
            <a:endParaRPr lang="en-US" sz="1400" dirty="0"/>
          </a:p>
        </p:txBody>
      </p:sp>
      <p:sp>
        <p:nvSpPr>
          <p:cNvPr id="5" name="Shape 3"/>
          <p:cNvSpPr/>
          <p:nvPr/>
        </p:nvSpPr>
        <p:spPr>
          <a:xfrm>
            <a:off x="6080760" y="1207008"/>
            <a:ext cx="777240" cy="292608"/>
          </a:xfrm>
          <a:prstGeom prst="roundRect">
            <a:avLst>
              <a:gd name="adj" fmla="val 15625"/>
            </a:avLst>
          </a:prstGeom>
          <a:solidFill>
            <a:srgbClr val="B0730F"/>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QUEUED</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onefiveten.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Enters the $8 Trillion Longevity Market With Longevity Life Academy</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Submitted and accepted into 1888's FREE distribution queue as PR ID 769318, scheduled to release on Jul 20. The 1888 free tier goes live on a rolling review cycle — expected public URL will appear on the 1888pressrelease.com feed and permanent archive within the release window. Full flagship article with all approved language, Miami dateline, and Harel Tayeb / eTeacher Group as public contact.</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Flagship — $8T Longevity Market</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PR ID 769318 · Scheduled Jul 20</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1888pressrelease.com  ·  PR ID 769318  ·  scheduled Jul 20</a:t>
            </a:r>
            <a:endParaRPr lang="en-US" sz="900" dirty="0"/>
          </a:p>
        </p:txBody>
      </p:sp>
      <p:pic>
        <p:nvPicPr>
          <p:cNvPr id="27" name="Image 1" descr="/home/user/workspace/lla_pr/deck_assets/screenshots/site_1888.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Outlet destination: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1888pressrelease.com  ·  PR ID 769318  ·  scheduled Jul 20</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rtlCol="0" anchor="ctr"/>
          <a:lstStyle/>
          <a:p>
            <a:pPr indent="0" marL="0">
              <a:buNone/>
            </a:pPr>
            <a:r>
              <a:rPr lang="en-US" sz="900" b="1" spc="400" kern="0" dirty="0">
                <a:solidFill>
                  <a:srgbClr val="6B6E74"/>
                </a:solidFill>
                <a:latin typeface="Calibri" pitchFamily="34" charset="0"/>
                <a:ea typeface="Calibri" pitchFamily="34" charset="-122"/>
                <a:cs typeface="Calibri" pitchFamily="34" charset="-120"/>
              </a:rPr>
              <a:t>OUTLET  ·  08 OF 08</a:t>
            </a:r>
            <a:endParaRPr lang="en-US" sz="900" dirty="0"/>
          </a:p>
        </p:txBody>
      </p:sp>
      <p:sp>
        <p:nvSpPr>
          <p:cNvPr id="3" name="Text 1"/>
          <p:cNvSpPr/>
          <p:nvPr/>
        </p:nvSpPr>
        <p:spPr>
          <a:xfrm>
            <a:off x="457200" y="594360"/>
            <a:ext cx="7315200" cy="685800"/>
          </a:xfrm>
          <a:prstGeom prst="rect">
            <a:avLst/>
          </a:prstGeom>
          <a:noFill/>
          <a:ln/>
        </p:spPr>
        <p:txBody>
          <a:bodyPr wrap="square" rtlCol="0" anchor="ctr"/>
          <a:lstStyle/>
          <a:p>
            <a:pPr indent="0" marL="0">
              <a:buNone/>
            </a:pPr>
            <a:r>
              <a:rPr lang="en-US" sz="3200" b="1" dirty="0">
                <a:solidFill>
                  <a:srgbClr val="111318"/>
                </a:solidFill>
                <a:latin typeface="Trebuchet MS" pitchFamily="34" charset="0"/>
                <a:ea typeface="Trebuchet MS" pitchFamily="34" charset="-122"/>
                <a:cs typeface="Trebuchet MS" pitchFamily="34" charset="-120"/>
              </a:rPr>
              <a:t>EIN Presswire</a:t>
            </a:r>
            <a:endParaRPr lang="en-US" sz="3200" dirty="0"/>
          </a:p>
        </p:txBody>
      </p:sp>
      <p:sp>
        <p:nvSpPr>
          <p:cNvPr id="4" name="Text 2"/>
          <p:cNvSpPr/>
          <p:nvPr/>
        </p:nvSpPr>
        <p:spPr>
          <a:xfrm>
            <a:off x="457200" y="1234440"/>
            <a:ext cx="5486400" cy="320040"/>
          </a:xfrm>
          <a:prstGeom prst="rect">
            <a:avLst/>
          </a:prstGeom>
          <a:noFill/>
          <a:ln/>
        </p:spPr>
        <p:txBody>
          <a:bodyPr wrap="square" rtlCol="0" anchor="ctr"/>
          <a:lstStyle/>
          <a:p>
            <a:pPr indent="0" marL="0">
              <a:buNone/>
            </a:pPr>
            <a:r>
              <a:rPr lang="en-US" sz="1400" b="1" spc="300" kern="0" dirty="0">
                <a:solidFill>
                  <a:srgbClr val="01696F"/>
                </a:solidFill>
                <a:latin typeface="Calibri" pitchFamily="34" charset="0"/>
                <a:ea typeface="Calibri" pitchFamily="34" charset="-122"/>
                <a:cs typeface="Calibri" pitchFamily="34" charset="-120"/>
              </a:rPr>
              <a:t>FLAGSHIP ARTICLE  ·  ARTICLE 1</a:t>
            </a:r>
            <a:endParaRPr lang="en-US" sz="1400" dirty="0"/>
          </a:p>
        </p:txBody>
      </p:sp>
      <p:sp>
        <p:nvSpPr>
          <p:cNvPr id="5" name="Shape 3"/>
          <p:cNvSpPr/>
          <p:nvPr/>
        </p:nvSpPr>
        <p:spPr>
          <a:xfrm>
            <a:off x="6080760" y="1207008"/>
            <a:ext cx="777240" cy="292608"/>
          </a:xfrm>
          <a:prstGeom prst="roundRect">
            <a:avLst>
              <a:gd name="adj" fmla="val 15625"/>
            </a:avLst>
          </a:prstGeom>
          <a:solidFill>
            <a:srgbClr val="B0730F"/>
          </a:solidFill>
          <a:ln/>
        </p:spPr>
      </p:sp>
      <p:sp>
        <p:nvSpPr>
          <p:cNvPr id="6" name="Text 4"/>
          <p:cNvSpPr/>
          <p:nvPr/>
        </p:nvSpPr>
        <p:spPr>
          <a:xfrm>
            <a:off x="6080760" y="1207008"/>
            <a:ext cx="7772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QUEUED</a:t>
            </a:r>
            <a:endParaRPr lang="en-US" sz="1000" dirty="0"/>
          </a:p>
        </p:txBody>
      </p:sp>
      <p:sp>
        <p:nvSpPr>
          <p:cNvPr id="7" name="Shape 5"/>
          <p:cNvSpPr/>
          <p:nvPr/>
        </p:nvSpPr>
        <p:spPr>
          <a:xfrm>
            <a:off x="8961120" y="320040"/>
            <a:ext cx="2743200" cy="1051560"/>
          </a:xfrm>
          <a:prstGeom prst="rect">
            <a:avLst/>
          </a:prstGeom>
          <a:solidFill>
            <a:srgbClr val="FFFFFF"/>
          </a:solidFill>
          <a:ln w="6350">
            <a:solidFill>
              <a:srgbClr val="E4E1DA"/>
            </a:solidFill>
            <a:prstDash val="solid"/>
          </a:ln>
        </p:spPr>
      </p:sp>
      <p:pic>
        <p:nvPicPr>
          <p:cNvPr id="8" name="Image 0" descr="/home/user/workspace/lla_pr/deck_assets/logo_chips/ein.png">    </p:cNvPr>
          <p:cNvPicPr>
            <a:picLocks noChangeAspect="1"/>
          </p:cNvPicPr>
          <p:nvPr/>
        </p:nvPicPr>
        <p:blipFill>
          <a:blip r:embed="rId1"/>
          <a:srcRect l="0" r="0" t="0" b="0"/>
          <a:stretch/>
        </p:blipFill>
        <p:spPr>
          <a:xfrm>
            <a:off x="9098280" y="365760"/>
            <a:ext cx="2468880" cy="960120"/>
          </a:xfrm>
          <a:prstGeom prst="rect">
            <a:avLst/>
          </a:prstGeom>
        </p:spPr>
      </p:pic>
      <p:sp>
        <p:nvSpPr>
          <p:cNvPr id="9" name="Text 6"/>
          <p:cNvSpPr/>
          <p:nvPr/>
        </p:nvSpPr>
        <p:spPr>
          <a:xfrm>
            <a:off x="457200" y="1737360"/>
            <a:ext cx="5303520" cy="1097280"/>
          </a:xfrm>
          <a:prstGeom prst="rect">
            <a:avLst/>
          </a:prstGeom>
          <a:noFill/>
          <a:ln/>
        </p:spPr>
        <p:txBody>
          <a:bodyPr wrap="square" rtlCol="0" anchor="t"/>
          <a:lstStyle/>
          <a:p>
            <a:pPr indent="0" marL="0">
              <a:buNone/>
            </a:pPr>
            <a:r>
              <a:rPr lang="en-US" sz="1800" b="1" dirty="0">
                <a:solidFill>
                  <a:srgbClr val="111318"/>
                </a:solidFill>
                <a:latin typeface="Trebuchet MS" pitchFamily="34" charset="0"/>
                <a:ea typeface="Trebuchet MS" pitchFamily="34" charset="-122"/>
                <a:cs typeface="Trebuchet MS" pitchFamily="34" charset="-120"/>
              </a:rPr>
              <a:t>eTeacher Group Enters the $8 Trillion Longevity Market With Longevity Life Academy</a:t>
            </a:r>
            <a:endParaRPr lang="en-US" sz="1800" dirty="0"/>
          </a:p>
        </p:txBody>
      </p:sp>
      <p:sp>
        <p:nvSpPr>
          <p:cNvPr id="10" name="Text 7"/>
          <p:cNvSpPr/>
          <p:nvPr/>
        </p:nvSpPr>
        <p:spPr>
          <a:xfrm>
            <a:off x="457200" y="2880360"/>
            <a:ext cx="5303520" cy="2194560"/>
          </a:xfrm>
          <a:prstGeom prst="rect">
            <a:avLst/>
          </a:prstGeom>
          <a:noFill/>
          <a:ln/>
        </p:spPr>
        <p:txBody>
          <a:bodyPr wrap="square" rtlCol="0" anchor="t"/>
          <a:lstStyle/>
          <a:p>
            <a:pPr indent="0" marL="0">
              <a:spcAft>
                <a:spcPts val="600"/>
              </a:spcAft>
              <a:buNone/>
            </a:pPr>
            <a:r>
              <a:rPr lang="en-US" sz="1200" dirty="0">
                <a:solidFill>
                  <a:srgbClr val="111318"/>
                </a:solidFill>
                <a:latin typeface="Calibri" pitchFamily="34" charset="0"/>
                <a:ea typeface="Calibri" pitchFamily="34" charset="-122"/>
                <a:cs typeface="Calibri" pitchFamily="34" charset="-120"/>
              </a:rPr>
              <a:t>EIN Presswire is a paid tier and syndicates to Google News, AP News, USA TODAY Network, and 100+ NBC, FOX, ABC &amp; CBS affiliates. Submission accepted and currently in EIN's editorial review queue. When approved, the release will syndicate broadly — the highest-reach outlet in this launch. Full flagship article submitted with Miami dateline and Harel Tayeb / eTeacher Group public contact.</a:t>
            </a:r>
            <a:endParaRPr lang="en-US" sz="1200" dirty="0"/>
          </a:p>
        </p:txBody>
      </p:sp>
      <p:sp>
        <p:nvSpPr>
          <p:cNvPr id="11" name="Text 8"/>
          <p:cNvSpPr/>
          <p:nvPr/>
        </p:nvSpPr>
        <p:spPr>
          <a:xfrm>
            <a:off x="457200" y="5074920"/>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DATELINE</a:t>
            </a:r>
            <a:endParaRPr lang="en-US" sz="900" dirty="0"/>
          </a:p>
        </p:txBody>
      </p:sp>
      <p:sp>
        <p:nvSpPr>
          <p:cNvPr id="12" name="Text 9"/>
          <p:cNvSpPr/>
          <p:nvPr/>
        </p:nvSpPr>
        <p:spPr>
          <a:xfrm>
            <a:off x="1554480" y="5074920"/>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Miami, FL</a:t>
            </a:r>
            <a:endParaRPr lang="en-US" sz="1100" dirty="0"/>
          </a:p>
        </p:txBody>
      </p:sp>
      <p:sp>
        <p:nvSpPr>
          <p:cNvPr id="13" name="Text 10"/>
          <p:cNvSpPr/>
          <p:nvPr/>
        </p:nvSpPr>
        <p:spPr>
          <a:xfrm>
            <a:off x="457200" y="5330952"/>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CONTACT</a:t>
            </a:r>
            <a:endParaRPr lang="en-US" sz="900" dirty="0"/>
          </a:p>
        </p:txBody>
      </p:sp>
      <p:sp>
        <p:nvSpPr>
          <p:cNvPr id="14" name="Text 11"/>
          <p:cNvSpPr/>
          <p:nvPr/>
        </p:nvSpPr>
        <p:spPr>
          <a:xfrm>
            <a:off x="1554480" y="5330952"/>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Harel Tayeb, CEO</a:t>
            </a:r>
            <a:endParaRPr lang="en-US" sz="1100" dirty="0"/>
          </a:p>
        </p:txBody>
      </p:sp>
      <p:sp>
        <p:nvSpPr>
          <p:cNvPr id="15" name="Text 12"/>
          <p:cNvSpPr/>
          <p:nvPr/>
        </p:nvSpPr>
        <p:spPr>
          <a:xfrm>
            <a:off x="457200" y="5586984"/>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ARTICLE</a:t>
            </a:r>
            <a:endParaRPr lang="en-US" sz="900" dirty="0"/>
          </a:p>
        </p:txBody>
      </p:sp>
      <p:sp>
        <p:nvSpPr>
          <p:cNvPr id="16" name="Text 13"/>
          <p:cNvSpPr/>
          <p:nvPr/>
        </p:nvSpPr>
        <p:spPr>
          <a:xfrm>
            <a:off x="1554480" y="5586984"/>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Flagship — $8T Longevity Market</a:t>
            </a:r>
            <a:endParaRPr lang="en-US" sz="1100" dirty="0"/>
          </a:p>
        </p:txBody>
      </p:sp>
      <p:sp>
        <p:nvSpPr>
          <p:cNvPr id="17" name="Text 14"/>
          <p:cNvSpPr/>
          <p:nvPr/>
        </p:nvSpPr>
        <p:spPr>
          <a:xfrm>
            <a:off x="457200" y="5843016"/>
            <a:ext cx="1097280" cy="228600"/>
          </a:xfrm>
          <a:prstGeom prst="rect">
            <a:avLst/>
          </a:prstGeom>
          <a:noFill/>
          <a:ln/>
        </p:spPr>
        <p:txBody>
          <a:bodyPr wrap="square" rtlCol="0" anchor="ctr"/>
          <a:lstStyle/>
          <a:p>
            <a:pPr indent="0" marL="0">
              <a:buNone/>
            </a:pPr>
            <a:r>
              <a:rPr lang="en-US" sz="900" b="1" spc="300" kern="0" dirty="0">
                <a:solidFill>
                  <a:srgbClr val="6B6E74"/>
                </a:solidFill>
                <a:latin typeface="Calibri" pitchFamily="34" charset="0"/>
                <a:ea typeface="Calibri" pitchFamily="34" charset="-122"/>
                <a:cs typeface="Calibri" pitchFamily="34" charset="-120"/>
              </a:rPr>
              <a:t>STATUS</a:t>
            </a:r>
            <a:endParaRPr lang="en-US" sz="900" dirty="0"/>
          </a:p>
        </p:txBody>
      </p:sp>
      <p:sp>
        <p:nvSpPr>
          <p:cNvPr id="18" name="Text 15"/>
          <p:cNvSpPr/>
          <p:nvPr/>
        </p:nvSpPr>
        <p:spPr>
          <a:xfrm>
            <a:off x="1554480" y="5843016"/>
            <a:ext cx="4206240" cy="228600"/>
          </a:xfrm>
          <a:prstGeom prst="rect">
            <a:avLst/>
          </a:prstGeom>
          <a:noFill/>
          <a:ln/>
        </p:spPr>
        <p:txBody>
          <a:bodyPr wrap="square" rtlCol="0" anchor="ctr"/>
          <a:lstStyle/>
          <a:p>
            <a:pPr indent="0" marL="0">
              <a:buNone/>
            </a:pPr>
            <a:r>
              <a:rPr lang="en-US" sz="1100" dirty="0">
                <a:solidFill>
                  <a:srgbClr val="111318"/>
                </a:solidFill>
                <a:latin typeface="Calibri" pitchFamily="34" charset="0"/>
                <a:ea typeface="Calibri" pitchFamily="34" charset="-122"/>
                <a:cs typeface="Calibri" pitchFamily="34" charset="-120"/>
              </a:rPr>
              <a:t>Paid tier · Editorial review</a:t>
            </a:r>
            <a:endParaRPr lang="en-US" sz="1100" dirty="0"/>
          </a:p>
        </p:txBody>
      </p:sp>
      <p:sp>
        <p:nvSpPr>
          <p:cNvPr id="19" name="Shape 16"/>
          <p:cNvSpPr/>
          <p:nvPr/>
        </p:nvSpPr>
        <p:spPr>
          <a:xfrm>
            <a:off x="6080760" y="1792224"/>
            <a:ext cx="5715000" cy="4160520"/>
          </a:xfrm>
          <a:prstGeom prst="rect">
            <a:avLst/>
          </a:prstGeom>
          <a:solidFill>
            <a:srgbClr val="DDDBD4"/>
          </a:solidFill>
          <a:ln/>
        </p:spPr>
      </p:sp>
      <p:sp>
        <p:nvSpPr>
          <p:cNvPr id="20" name="Shape 17"/>
          <p:cNvSpPr/>
          <p:nvPr/>
        </p:nvSpPr>
        <p:spPr>
          <a:xfrm>
            <a:off x="6035040" y="1737360"/>
            <a:ext cx="5715000" cy="4160520"/>
          </a:xfrm>
          <a:prstGeom prst="rect">
            <a:avLst/>
          </a:prstGeom>
          <a:solidFill>
            <a:srgbClr val="FFFFFF"/>
          </a:solidFill>
          <a:ln w="6350">
            <a:solidFill>
              <a:srgbClr val="E4E1DA"/>
            </a:solidFill>
            <a:prstDash val="solid"/>
          </a:ln>
        </p:spPr>
      </p:sp>
      <p:sp>
        <p:nvSpPr>
          <p:cNvPr id="21" name="Shape 18"/>
          <p:cNvSpPr/>
          <p:nvPr/>
        </p:nvSpPr>
        <p:spPr>
          <a:xfrm>
            <a:off x="6035040" y="1737360"/>
            <a:ext cx="5715000" cy="292608"/>
          </a:xfrm>
          <a:prstGeom prst="rect">
            <a:avLst/>
          </a:prstGeom>
          <a:solidFill>
            <a:srgbClr val="F1EFEA"/>
          </a:solidFill>
          <a:ln w="6350">
            <a:solidFill>
              <a:srgbClr val="E4E1DA"/>
            </a:solidFill>
            <a:prstDash val="solid"/>
          </a:ln>
        </p:spPr>
      </p:sp>
      <p:sp>
        <p:nvSpPr>
          <p:cNvPr id="22" name="Shape 19"/>
          <p:cNvSpPr/>
          <p:nvPr/>
        </p:nvSpPr>
        <p:spPr>
          <a:xfrm>
            <a:off x="6126480" y="1819656"/>
            <a:ext cx="128016" cy="128016"/>
          </a:xfrm>
          <a:prstGeom prst="ellipse">
            <a:avLst/>
          </a:prstGeom>
          <a:solidFill>
            <a:srgbClr val="E06C5A"/>
          </a:solidFill>
          <a:ln/>
        </p:spPr>
      </p:sp>
      <p:sp>
        <p:nvSpPr>
          <p:cNvPr id="23" name="Shape 20"/>
          <p:cNvSpPr/>
          <p:nvPr/>
        </p:nvSpPr>
        <p:spPr>
          <a:xfrm>
            <a:off x="6291072" y="1819656"/>
            <a:ext cx="128016" cy="128016"/>
          </a:xfrm>
          <a:prstGeom prst="ellipse">
            <a:avLst/>
          </a:prstGeom>
          <a:solidFill>
            <a:srgbClr val="E5B547"/>
          </a:solidFill>
          <a:ln/>
        </p:spPr>
      </p:sp>
      <p:sp>
        <p:nvSpPr>
          <p:cNvPr id="24" name="Shape 21"/>
          <p:cNvSpPr/>
          <p:nvPr/>
        </p:nvSpPr>
        <p:spPr>
          <a:xfrm>
            <a:off x="6455664" y="1819656"/>
            <a:ext cx="128016" cy="128016"/>
          </a:xfrm>
          <a:prstGeom prst="ellipse">
            <a:avLst/>
          </a:prstGeom>
          <a:solidFill>
            <a:srgbClr val="5AC26B"/>
          </a:solidFill>
          <a:ln/>
        </p:spPr>
      </p:sp>
      <p:sp>
        <p:nvSpPr>
          <p:cNvPr id="25" name="Shape 22"/>
          <p:cNvSpPr/>
          <p:nvPr/>
        </p:nvSpPr>
        <p:spPr>
          <a:xfrm>
            <a:off x="6812280" y="1792224"/>
            <a:ext cx="4663440" cy="182880"/>
          </a:xfrm>
          <a:prstGeom prst="roundRect">
            <a:avLst>
              <a:gd name="adj" fmla="val 15000"/>
            </a:avLst>
          </a:prstGeom>
          <a:solidFill>
            <a:srgbClr val="FFFFFF"/>
          </a:solidFill>
          <a:ln w="6350">
            <a:solidFill>
              <a:srgbClr val="E4E1DA"/>
            </a:solidFill>
            <a:prstDash val="solid"/>
          </a:ln>
        </p:spPr>
      </p:sp>
      <p:sp>
        <p:nvSpPr>
          <p:cNvPr id="26" name="Text 23">
            <a:hlinkClick r:id="rId2" tooltip=""/>
          </p:cNvPr>
          <p:cNvSpPr/>
          <p:nvPr/>
        </p:nvSpPr>
        <p:spPr>
          <a:xfrm>
            <a:off x="6903720" y="1792224"/>
            <a:ext cx="4480560" cy="182880"/>
          </a:xfrm>
          <a:prstGeom prst="rect">
            <a:avLst/>
          </a:prstGeom>
          <a:noFill/>
          <a:ln/>
        </p:spPr>
        <p:txBody>
          <a:bodyPr wrap="square" lIns="0" tIns="0" rIns="0" bIns="0" rtlCol="0" anchor="ctr"/>
          <a:lstStyle/>
          <a:p>
            <a:pPr indent="0" marL="0">
              <a:buNone/>
            </a:pPr>
            <a:r>
              <a:rPr lang="en-US" sz="900" u="sng" dirty="0">
                <a:solidFill>
                  <a:srgbClr val="6B6E7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einpresswire.com  ·  paid tier  ·  editorial review</a:t>
            </a:r>
            <a:endParaRPr lang="en-US" sz="900" dirty="0"/>
          </a:p>
        </p:txBody>
      </p:sp>
      <p:pic>
        <p:nvPicPr>
          <p:cNvPr id="27" name="Image 1" descr="/home/user/workspace/lla_pr/deck_assets/screenshots/site_ein.png">    </p:cNvPr>
          <p:cNvPicPr>
            <a:picLocks noChangeAspect="1"/>
          </p:cNvPicPr>
          <p:nvPr/>
        </p:nvPicPr>
        <p:blipFill>
          <a:blip r:embed="rId3"/>
          <a:srcRect l="0" r="0" t="0" b="0"/>
          <a:stretch/>
        </p:blipFill>
        <p:spPr>
          <a:xfrm>
            <a:off x="6089904" y="2066544"/>
            <a:ext cx="5605272" cy="3776472"/>
          </a:xfrm>
          <a:prstGeom prst="rect">
            <a:avLst/>
          </a:prstGeom>
        </p:spPr>
      </p:pic>
      <p:sp>
        <p:nvSpPr>
          <p:cNvPr id="28" name="Text 24"/>
          <p:cNvSpPr/>
          <p:nvPr/>
        </p:nvSpPr>
        <p:spPr>
          <a:xfrm>
            <a:off x="6035040" y="6035040"/>
            <a:ext cx="5715000" cy="274320"/>
          </a:xfrm>
          <a:prstGeom prst="rect">
            <a:avLst/>
          </a:prstGeom>
          <a:noFill/>
          <a:ln/>
        </p:spPr>
        <p:txBody>
          <a:bodyPr wrap="square" rtlCol="0" anchor="ctr"/>
          <a:lstStyle/>
          <a:p>
            <a:pPr indent="0" marL="0">
              <a:buNone/>
            </a:pPr>
            <a:r>
              <a:rPr lang="en-US" sz="1000" dirty="0">
                <a:solidFill>
                  <a:srgbClr val="6B6E74"/>
                </a:solidFill>
                <a:latin typeface="Calibri" pitchFamily="34" charset="0"/>
                <a:ea typeface="Calibri" pitchFamily="34" charset="-122"/>
                <a:cs typeface="Calibri" pitchFamily="34" charset="-120"/>
              </a:rPr>
              <a:t>Outlet destination: </a:t>
            </a:r>
            <a:pPr indent="0" marL="0">
              <a:buNone/>
            </a:pPr>
            <a:r>
              <a:rPr lang="en-US" sz="1000" b="1" u="sng" dirty="0">
                <a:solidFill>
                  <a:srgbClr val="01696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einpresswire.com  ·  paid tier  ·  editorial review</a:t>
            </a:r>
            <a:endParaRPr lang="en-US" sz="1000" dirty="0"/>
          </a:p>
        </p:txBody>
      </p:sp>
      <p:sp>
        <p:nvSpPr>
          <p:cNvPr id="29" name="Text 25"/>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6B6E74"/>
                </a:solidFill>
                <a:latin typeface="Calibri" pitchFamily="34" charset="0"/>
                <a:ea typeface="Calibri" pitchFamily="34" charset="-122"/>
                <a:cs typeface="Calibri" pitchFamily="34" charset="-120"/>
              </a:rPr>
              <a:t>LONGEVITY LIFE ACADEMY  ·  PR LAUNCH  ·  JUL 2026</a:t>
            </a:r>
            <a:endParaRPr lang="en-US" sz="900" dirty="0"/>
          </a:p>
        </p:txBody>
      </p:sp>
      <p:sp>
        <p:nvSpPr>
          <p:cNvPr id="30" name="Text 26"/>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6B6E74"/>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23"/>
        </a:solidFill>
      </p:bgPr>
    </p:bg>
    <p:spTree>
      <p:nvGrpSpPr>
        <p:cNvPr id="1" name=""/>
        <p:cNvGrpSpPr/>
        <p:nvPr/>
      </p:nvGrpSpPr>
      <p:grpSpPr>
        <a:xfrm>
          <a:off x="0" y="0"/>
          <a:ext cx="0" cy="0"/>
          <a:chOff x="0" y="0"/>
          <a:chExt cx="0" cy="0"/>
        </a:xfrm>
      </p:grpSpPr>
      <p:sp>
        <p:nvSpPr>
          <p:cNvPr id="2" name="Shape 0"/>
          <p:cNvSpPr/>
          <p:nvPr/>
        </p:nvSpPr>
        <p:spPr>
          <a:xfrm>
            <a:off x="457200" y="548640"/>
            <a:ext cx="548640" cy="54864"/>
          </a:xfrm>
          <a:prstGeom prst="rect">
            <a:avLst/>
          </a:prstGeom>
          <a:solidFill>
            <a:srgbClr val="2AA4A8"/>
          </a:solidFill>
          <a:ln/>
        </p:spPr>
      </p:sp>
      <p:sp>
        <p:nvSpPr>
          <p:cNvPr id="3" name="Text 1"/>
          <p:cNvSpPr/>
          <p:nvPr/>
        </p:nvSpPr>
        <p:spPr>
          <a:xfrm>
            <a:off x="457200" y="777240"/>
            <a:ext cx="7315200" cy="320040"/>
          </a:xfrm>
          <a:prstGeom prst="rect">
            <a:avLst/>
          </a:prstGeom>
          <a:noFill/>
          <a:ln/>
        </p:spPr>
        <p:txBody>
          <a:bodyPr wrap="square" rtlCol="0" anchor="ctr"/>
          <a:lstStyle/>
          <a:p>
            <a:pPr indent="0" marL="0">
              <a:buNone/>
            </a:pPr>
            <a:r>
              <a:rPr lang="en-US" sz="1200" b="1" spc="600" kern="0" dirty="0">
                <a:solidFill>
                  <a:srgbClr val="A8ADB4"/>
                </a:solidFill>
                <a:latin typeface="Calibri" pitchFamily="34" charset="0"/>
                <a:ea typeface="Calibri" pitchFamily="34" charset="-122"/>
                <a:cs typeface="Calibri" pitchFamily="34" charset="-120"/>
              </a:rPr>
              <a:t>MEDIA KIT</a:t>
            </a:r>
            <a:endParaRPr lang="en-US" sz="1200" dirty="0"/>
          </a:p>
        </p:txBody>
      </p:sp>
      <p:sp>
        <p:nvSpPr>
          <p:cNvPr id="4" name="Text 2"/>
          <p:cNvSpPr/>
          <p:nvPr/>
        </p:nvSpPr>
        <p:spPr>
          <a:xfrm>
            <a:off x="457200" y="1371600"/>
            <a:ext cx="10972800" cy="1097280"/>
          </a:xfrm>
          <a:prstGeom prst="rect">
            <a:avLst/>
          </a:prstGeom>
          <a:noFill/>
          <a:ln/>
        </p:spPr>
        <p:txBody>
          <a:bodyPr wrap="square" rtlCol="0" anchor="ctr"/>
          <a:lstStyle/>
          <a:p>
            <a:pPr indent="0" marL="0">
              <a:lnSpc>
                <a:spcPct val="100000"/>
              </a:lnSpc>
              <a:buNone/>
            </a:pPr>
            <a:r>
              <a:rPr lang="en-US" sz="4400" b="1" dirty="0">
                <a:solidFill>
                  <a:srgbClr val="F7F6F2"/>
                </a:solidFill>
                <a:latin typeface="Trebuchet MS" pitchFamily="34" charset="0"/>
                <a:ea typeface="Trebuchet MS" pitchFamily="34" charset="-122"/>
                <a:cs typeface="Trebuchet MS" pitchFamily="34" charset="-120"/>
              </a:rPr>
              <a:t>One kit. All the assets journalists need.</a:t>
            </a:r>
            <a:endParaRPr lang="en-US" sz="4400" dirty="0"/>
          </a:p>
        </p:txBody>
      </p:sp>
      <p:sp>
        <p:nvSpPr>
          <p:cNvPr id="5" name="Text 3"/>
          <p:cNvSpPr/>
          <p:nvPr/>
        </p:nvSpPr>
        <p:spPr>
          <a:xfrm>
            <a:off x="457200" y="2651760"/>
            <a:ext cx="7772400" cy="822960"/>
          </a:xfrm>
          <a:prstGeom prst="rect">
            <a:avLst/>
          </a:prstGeom>
          <a:noFill/>
          <a:ln/>
        </p:spPr>
        <p:txBody>
          <a:bodyPr wrap="square" rtlCol="0" anchor="ctr"/>
          <a:lstStyle/>
          <a:p>
            <a:pPr indent="0" marL="0">
              <a:buNone/>
            </a:pPr>
            <a:r>
              <a:rPr lang="en-US" sz="1600" dirty="0">
                <a:solidFill>
                  <a:srgbClr val="A8ADB4"/>
                </a:solidFill>
                <a:latin typeface="Calibri" pitchFamily="34" charset="0"/>
                <a:ea typeface="Calibri" pitchFamily="34" charset="-122"/>
                <a:cs typeface="Calibri" pitchFamily="34" charset="-120"/>
              </a:rPr>
              <a:t>Logos · press releases · executive bio · fact sheet · high-res product visuals — hosted at a public URL that any reporter can open without a login.</a:t>
            </a:r>
            <a:endParaRPr lang="en-US" sz="1600" dirty="0"/>
          </a:p>
        </p:txBody>
      </p:sp>
      <p:sp>
        <p:nvSpPr>
          <p:cNvPr id="6" name="Shape 4"/>
          <p:cNvSpPr/>
          <p:nvPr/>
        </p:nvSpPr>
        <p:spPr>
          <a:xfrm>
            <a:off x="457200" y="3749040"/>
            <a:ext cx="7772400" cy="1371600"/>
          </a:xfrm>
          <a:prstGeom prst="rect">
            <a:avLst/>
          </a:prstGeom>
          <a:solidFill>
            <a:srgbClr val="13292E"/>
          </a:solidFill>
          <a:ln w="6350">
            <a:solidFill>
              <a:srgbClr val="2B3A3F"/>
            </a:solidFill>
            <a:prstDash val="solid"/>
          </a:ln>
        </p:spPr>
      </p:sp>
      <p:sp>
        <p:nvSpPr>
          <p:cNvPr id="7" name="Text 5"/>
          <p:cNvSpPr/>
          <p:nvPr/>
        </p:nvSpPr>
        <p:spPr>
          <a:xfrm>
            <a:off x="777240" y="3886200"/>
            <a:ext cx="3657600" cy="274320"/>
          </a:xfrm>
          <a:prstGeom prst="rect">
            <a:avLst/>
          </a:prstGeom>
          <a:noFill/>
          <a:ln/>
        </p:spPr>
        <p:txBody>
          <a:bodyPr wrap="square" rtlCol="0" anchor="ctr"/>
          <a:lstStyle/>
          <a:p>
            <a:pPr indent="0" marL="0">
              <a:buNone/>
            </a:pPr>
            <a:r>
              <a:rPr lang="en-US" sz="1000" b="1" spc="300" kern="0" dirty="0">
                <a:solidFill>
                  <a:srgbClr val="A8ADB4"/>
                </a:solidFill>
                <a:latin typeface="Calibri" pitchFamily="34" charset="0"/>
                <a:ea typeface="Calibri" pitchFamily="34" charset="-122"/>
                <a:cs typeface="Calibri" pitchFamily="34" charset="-120"/>
              </a:rPr>
              <a:t>LIVE MEDIA KIT</a:t>
            </a:r>
            <a:endParaRPr lang="en-US" sz="1000" dirty="0"/>
          </a:p>
        </p:txBody>
      </p:sp>
      <p:sp>
        <p:nvSpPr>
          <p:cNvPr id="8" name="Text 6">
            <a:hlinkClick r:id="rId1" tooltip=""/>
          </p:cNvPr>
          <p:cNvSpPr/>
          <p:nvPr/>
        </p:nvSpPr>
        <p:spPr>
          <a:xfrm>
            <a:off x="777240" y="4160520"/>
            <a:ext cx="7315200" cy="502920"/>
          </a:xfrm>
          <a:prstGeom prst="rect">
            <a:avLst/>
          </a:prstGeom>
          <a:noFill/>
          <a:ln/>
        </p:spPr>
        <p:txBody>
          <a:bodyPr wrap="square" rtlCol="0" anchor="ctr"/>
          <a:lstStyle/>
          <a:p>
            <a:pPr indent="0" marL="0">
              <a:buNone/>
            </a:pPr>
            <a:r>
              <a:rPr lang="en-US" sz="2400" b="1" u="sng" dirty="0">
                <a:solidFill>
                  <a:srgbClr val="2AA4A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gitteromri-ux.github.io/lla-pr-kit</a:t>
            </a:r>
            <a:endParaRPr lang="en-US" sz="2400" dirty="0"/>
          </a:p>
        </p:txBody>
      </p:sp>
      <p:sp>
        <p:nvSpPr>
          <p:cNvPr id="9" name="Text 7"/>
          <p:cNvSpPr/>
          <p:nvPr/>
        </p:nvSpPr>
        <p:spPr>
          <a:xfrm>
            <a:off x="777240" y="4663440"/>
            <a:ext cx="6858000" cy="320040"/>
          </a:xfrm>
          <a:prstGeom prst="rect">
            <a:avLst/>
          </a:prstGeom>
          <a:noFill/>
          <a:ln/>
        </p:spPr>
        <p:txBody>
          <a:bodyPr wrap="square" rtlCol="0" anchor="ctr"/>
          <a:lstStyle/>
          <a:p>
            <a:pPr indent="0" marL="0">
              <a:buNone/>
            </a:pPr>
            <a:r>
              <a:rPr lang="en-US" sz="1100" dirty="0">
                <a:solidFill>
                  <a:srgbClr val="A8ADB4"/>
                </a:solidFill>
                <a:latin typeface="Calibri" pitchFamily="34" charset="0"/>
                <a:ea typeface="Calibri" pitchFamily="34" charset="-122"/>
                <a:cs typeface="Calibri" pitchFamily="34" charset="-120"/>
              </a:rPr>
              <a:t>Commit c8880e6 · sanitized · HTTPS · zero login required</a:t>
            </a:r>
            <a:endParaRPr lang="en-US" sz="1100" dirty="0"/>
          </a:p>
        </p:txBody>
      </p:sp>
      <p:sp>
        <p:nvSpPr>
          <p:cNvPr id="10" name="Shape 8"/>
          <p:cNvSpPr/>
          <p:nvPr/>
        </p:nvSpPr>
        <p:spPr>
          <a:xfrm>
            <a:off x="8686800" y="3749040"/>
            <a:ext cx="3017520" cy="1371600"/>
          </a:xfrm>
          <a:prstGeom prst="rect">
            <a:avLst/>
          </a:prstGeom>
          <a:solidFill>
            <a:srgbClr val="13292E"/>
          </a:solidFill>
          <a:ln w="6350">
            <a:solidFill>
              <a:srgbClr val="2B3A3F"/>
            </a:solidFill>
            <a:prstDash val="solid"/>
          </a:ln>
        </p:spPr>
      </p:sp>
      <p:pic>
        <p:nvPicPr>
          <p:cNvPr id="11" name="Image 0" descr="/home/user/workspace/lla_pr/deck_assets/logo_chips/github.png">    </p:cNvPr>
          <p:cNvPicPr>
            <a:picLocks noChangeAspect="1"/>
          </p:cNvPicPr>
          <p:nvPr/>
        </p:nvPicPr>
        <p:blipFill>
          <a:blip r:embed="rId2"/>
          <a:srcRect l="0" r="0" t="0" b="0"/>
          <a:stretch/>
        </p:blipFill>
        <p:spPr>
          <a:xfrm>
            <a:off x="9052560" y="3977640"/>
            <a:ext cx="822960" cy="822960"/>
          </a:xfrm>
          <a:prstGeom prst="rect">
            <a:avLst/>
          </a:prstGeom>
        </p:spPr>
      </p:pic>
      <p:sp>
        <p:nvSpPr>
          <p:cNvPr id="12" name="Text 9"/>
          <p:cNvSpPr/>
          <p:nvPr/>
        </p:nvSpPr>
        <p:spPr>
          <a:xfrm>
            <a:off x="10012680" y="4114800"/>
            <a:ext cx="1828800" cy="320040"/>
          </a:xfrm>
          <a:prstGeom prst="rect">
            <a:avLst/>
          </a:prstGeom>
          <a:noFill/>
          <a:ln/>
        </p:spPr>
        <p:txBody>
          <a:bodyPr wrap="square" rtlCol="0" anchor="ctr"/>
          <a:lstStyle/>
          <a:p>
            <a:pPr indent="0" marL="0">
              <a:buNone/>
            </a:pPr>
            <a:r>
              <a:rPr lang="en-US" sz="1400" b="1" dirty="0">
                <a:solidFill>
                  <a:srgbClr val="F7F6F2"/>
                </a:solidFill>
                <a:latin typeface="Trebuchet MS" pitchFamily="34" charset="0"/>
                <a:ea typeface="Trebuchet MS" pitchFamily="34" charset="-122"/>
                <a:cs typeface="Trebuchet MS" pitchFamily="34" charset="-120"/>
              </a:rPr>
              <a:t>GitHub Pages</a:t>
            </a:r>
            <a:endParaRPr lang="en-US" sz="1400" dirty="0"/>
          </a:p>
        </p:txBody>
      </p:sp>
      <p:sp>
        <p:nvSpPr>
          <p:cNvPr id="13" name="Text 10"/>
          <p:cNvSpPr/>
          <p:nvPr/>
        </p:nvSpPr>
        <p:spPr>
          <a:xfrm>
            <a:off x="10012680" y="4407408"/>
            <a:ext cx="1828800" cy="274320"/>
          </a:xfrm>
          <a:prstGeom prst="rect">
            <a:avLst/>
          </a:prstGeom>
          <a:noFill/>
          <a:ln/>
        </p:spPr>
        <p:txBody>
          <a:bodyPr wrap="square" rtlCol="0" anchor="ctr"/>
          <a:lstStyle/>
          <a:p>
            <a:pPr indent="0" marL="0">
              <a:buNone/>
            </a:pPr>
            <a:r>
              <a:rPr lang="en-US" sz="1000" dirty="0">
                <a:solidFill>
                  <a:srgbClr val="A8ADB4"/>
                </a:solidFill>
                <a:latin typeface="Calibri" pitchFamily="34" charset="0"/>
                <a:ea typeface="Calibri" pitchFamily="34" charset="-122"/>
                <a:cs typeface="Calibri" pitchFamily="34" charset="-120"/>
              </a:rPr>
              <a:t>Hosted static kit</a:t>
            </a:r>
            <a:endParaRPr lang="en-US" sz="1000" dirty="0"/>
          </a:p>
        </p:txBody>
      </p:sp>
      <p:sp>
        <p:nvSpPr>
          <p:cNvPr id="14" name="Shape 11"/>
          <p:cNvSpPr/>
          <p:nvPr/>
        </p:nvSpPr>
        <p:spPr>
          <a:xfrm>
            <a:off x="457200" y="5577840"/>
            <a:ext cx="11247120" cy="0"/>
          </a:xfrm>
          <a:prstGeom prst="line">
            <a:avLst/>
          </a:prstGeom>
          <a:noFill/>
          <a:ln w="6350">
            <a:solidFill>
              <a:srgbClr val="2B3A3F"/>
            </a:solidFill>
            <a:prstDash val="solid"/>
          </a:ln>
        </p:spPr>
      </p:sp>
      <p:sp>
        <p:nvSpPr>
          <p:cNvPr id="15" name="Text 12"/>
          <p:cNvSpPr/>
          <p:nvPr/>
        </p:nvSpPr>
        <p:spPr>
          <a:xfrm>
            <a:off x="457200" y="576072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TOTAL LIVE</a:t>
            </a:r>
            <a:endParaRPr lang="en-US" sz="900" dirty="0"/>
          </a:p>
        </p:txBody>
      </p:sp>
      <p:sp>
        <p:nvSpPr>
          <p:cNvPr id="16" name="Text 13"/>
          <p:cNvSpPr/>
          <p:nvPr/>
        </p:nvSpPr>
        <p:spPr>
          <a:xfrm>
            <a:off x="457200" y="6035040"/>
            <a:ext cx="2651760" cy="320040"/>
          </a:xfrm>
          <a:prstGeom prst="rect">
            <a:avLst/>
          </a:prstGeom>
          <a:noFill/>
          <a:ln/>
        </p:spPr>
        <p:txBody>
          <a:bodyPr wrap="square" rtlCol="0" anchor="ctr"/>
          <a:lstStyle/>
          <a:p>
            <a:pPr indent="0" marL="0">
              <a:buNone/>
            </a:pPr>
            <a:r>
              <a:rPr lang="en-US" sz="1300" b="1" dirty="0">
                <a:solidFill>
                  <a:srgbClr val="F7F6F2"/>
                </a:solidFill>
                <a:latin typeface="Trebuchet MS" pitchFamily="34" charset="0"/>
                <a:ea typeface="Trebuchet MS" pitchFamily="34" charset="-122"/>
                <a:cs typeface="Trebuchet MS" pitchFamily="34" charset="-120"/>
              </a:rPr>
              <a:t>6 outlets + 1 kit</a:t>
            </a:r>
            <a:endParaRPr lang="en-US" sz="1300" dirty="0"/>
          </a:p>
        </p:txBody>
      </p:sp>
      <p:sp>
        <p:nvSpPr>
          <p:cNvPr id="17" name="Text 14"/>
          <p:cNvSpPr/>
          <p:nvPr/>
        </p:nvSpPr>
        <p:spPr>
          <a:xfrm>
            <a:off x="3291840" y="576072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ARTICLES ROTATED</a:t>
            </a:r>
            <a:endParaRPr lang="en-US" sz="900" dirty="0"/>
          </a:p>
        </p:txBody>
      </p:sp>
      <p:sp>
        <p:nvSpPr>
          <p:cNvPr id="18" name="Text 15"/>
          <p:cNvSpPr/>
          <p:nvPr/>
        </p:nvSpPr>
        <p:spPr>
          <a:xfrm>
            <a:off x="3291840" y="6035040"/>
            <a:ext cx="2651760" cy="320040"/>
          </a:xfrm>
          <a:prstGeom prst="rect">
            <a:avLst/>
          </a:prstGeom>
          <a:noFill/>
          <a:ln/>
        </p:spPr>
        <p:txBody>
          <a:bodyPr wrap="square" rtlCol="0" anchor="ctr"/>
          <a:lstStyle/>
          <a:p>
            <a:pPr indent="0" marL="0">
              <a:buNone/>
            </a:pPr>
            <a:r>
              <a:rPr lang="en-US" sz="1300" b="1" dirty="0">
                <a:solidFill>
                  <a:srgbClr val="F7F6F2"/>
                </a:solidFill>
                <a:latin typeface="Trebuchet MS" pitchFamily="34" charset="0"/>
                <a:ea typeface="Trebuchet MS" pitchFamily="34" charset="-122"/>
                <a:cs typeface="Trebuchet MS" pitchFamily="34" charset="-120"/>
              </a:rPr>
              <a:t>3 / 3 in the wild</a:t>
            </a:r>
            <a:endParaRPr lang="en-US" sz="1300" dirty="0"/>
          </a:p>
        </p:txBody>
      </p:sp>
      <p:sp>
        <p:nvSpPr>
          <p:cNvPr id="19" name="Text 16"/>
          <p:cNvSpPr/>
          <p:nvPr/>
        </p:nvSpPr>
        <p:spPr>
          <a:xfrm>
            <a:off x="6126480" y="576072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BANNED-TERM AUDIT</a:t>
            </a:r>
            <a:endParaRPr lang="en-US" sz="900" dirty="0"/>
          </a:p>
        </p:txBody>
      </p:sp>
      <p:sp>
        <p:nvSpPr>
          <p:cNvPr id="20" name="Text 17"/>
          <p:cNvSpPr/>
          <p:nvPr/>
        </p:nvSpPr>
        <p:spPr>
          <a:xfrm>
            <a:off x="6126480" y="6035040"/>
            <a:ext cx="2651760" cy="320040"/>
          </a:xfrm>
          <a:prstGeom prst="rect">
            <a:avLst/>
          </a:prstGeom>
          <a:noFill/>
          <a:ln/>
        </p:spPr>
        <p:txBody>
          <a:bodyPr wrap="square" rtlCol="0" anchor="ctr"/>
          <a:lstStyle/>
          <a:p>
            <a:pPr indent="0" marL="0">
              <a:buNone/>
            </a:pPr>
            <a:r>
              <a:rPr lang="en-US" sz="1300" b="1" dirty="0">
                <a:solidFill>
                  <a:srgbClr val="F7F6F2"/>
                </a:solidFill>
                <a:latin typeface="Trebuchet MS" pitchFamily="34" charset="0"/>
                <a:ea typeface="Trebuchet MS" pitchFamily="34" charset="-122"/>
                <a:cs typeface="Trebuchet MS" pitchFamily="34" charset="-120"/>
              </a:rPr>
              <a:t>PASSED (all outlets)</a:t>
            </a:r>
            <a:endParaRPr lang="en-US" sz="1300" dirty="0"/>
          </a:p>
        </p:txBody>
      </p:sp>
      <p:sp>
        <p:nvSpPr>
          <p:cNvPr id="21" name="Text 18"/>
          <p:cNvSpPr/>
          <p:nvPr/>
        </p:nvSpPr>
        <p:spPr>
          <a:xfrm>
            <a:off x="8961120" y="5760720"/>
            <a:ext cx="2651760" cy="228600"/>
          </a:xfrm>
          <a:prstGeom prst="rect">
            <a:avLst/>
          </a:prstGeom>
          <a:noFill/>
          <a:ln/>
        </p:spPr>
        <p:txBody>
          <a:bodyPr wrap="square" rtlCol="0" anchor="ctr"/>
          <a:lstStyle/>
          <a:p>
            <a:pPr indent="0" marL="0">
              <a:buNone/>
            </a:pPr>
            <a:r>
              <a:rPr lang="en-US" sz="900" b="1" spc="300" kern="0" dirty="0">
                <a:solidFill>
                  <a:srgbClr val="A8ADB4"/>
                </a:solidFill>
                <a:latin typeface="Calibri" pitchFamily="34" charset="0"/>
                <a:ea typeface="Calibri" pitchFamily="34" charset="-122"/>
                <a:cs typeface="Calibri" pitchFamily="34" charset="-120"/>
              </a:rPr>
              <a:t>QUEUED PIPELINE</a:t>
            </a:r>
            <a:endParaRPr lang="en-US" sz="900" dirty="0"/>
          </a:p>
        </p:txBody>
      </p:sp>
      <p:sp>
        <p:nvSpPr>
          <p:cNvPr id="22" name="Text 19"/>
          <p:cNvSpPr/>
          <p:nvPr/>
        </p:nvSpPr>
        <p:spPr>
          <a:xfrm>
            <a:off x="8961120" y="6035040"/>
            <a:ext cx="2651760" cy="320040"/>
          </a:xfrm>
          <a:prstGeom prst="rect">
            <a:avLst/>
          </a:prstGeom>
          <a:noFill/>
          <a:ln/>
        </p:spPr>
        <p:txBody>
          <a:bodyPr wrap="square" rtlCol="0" anchor="ctr"/>
          <a:lstStyle/>
          <a:p>
            <a:pPr indent="0" marL="0">
              <a:buNone/>
            </a:pPr>
            <a:r>
              <a:rPr lang="en-US" sz="1300" b="1" dirty="0">
                <a:solidFill>
                  <a:srgbClr val="F7F6F2"/>
                </a:solidFill>
                <a:latin typeface="Trebuchet MS" pitchFamily="34" charset="0"/>
                <a:ea typeface="Trebuchet MS" pitchFamily="34" charset="-122"/>
                <a:cs typeface="Trebuchet MS" pitchFamily="34" charset="-120"/>
              </a:rPr>
              <a:t>1888 · EIN Presswire</a:t>
            </a:r>
            <a:endParaRPr lang="en-US" sz="1300" dirty="0"/>
          </a:p>
        </p:txBody>
      </p:sp>
      <p:sp>
        <p:nvSpPr>
          <p:cNvPr id="23" name="Text 20"/>
          <p:cNvSpPr/>
          <p:nvPr/>
        </p:nvSpPr>
        <p:spPr>
          <a:xfrm>
            <a:off x="457200" y="6537960"/>
            <a:ext cx="7315200" cy="228600"/>
          </a:xfrm>
          <a:prstGeom prst="rect">
            <a:avLst/>
          </a:prstGeom>
          <a:noFill/>
          <a:ln/>
        </p:spPr>
        <p:txBody>
          <a:bodyPr wrap="square" rtlCol="0" anchor="ctr"/>
          <a:lstStyle/>
          <a:p>
            <a:pPr indent="0" marL="0">
              <a:buNone/>
            </a:pPr>
            <a:r>
              <a:rPr lang="en-US" sz="900" spc="200" kern="0" dirty="0">
                <a:solidFill>
                  <a:srgbClr val="A8ADB4"/>
                </a:solidFill>
                <a:latin typeface="Calibri" pitchFamily="34" charset="0"/>
                <a:ea typeface="Calibri" pitchFamily="34" charset="-122"/>
                <a:cs typeface="Calibri" pitchFamily="34" charset="-120"/>
              </a:rPr>
              <a:t>LONGEVITY LIFE ACADEMY  ·  PR LAUNCH  ·  JUL 2026</a:t>
            </a:r>
            <a:endParaRPr lang="en-US" sz="900" dirty="0"/>
          </a:p>
        </p:txBody>
      </p:sp>
      <p:sp>
        <p:nvSpPr>
          <p:cNvPr id="24" name="Text 21"/>
          <p:cNvSpPr/>
          <p:nvPr/>
        </p:nvSpPr>
        <p:spPr>
          <a:xfrm>
            <a:off x="10972800" y="6537960"/>
            <a:ext cx="758952" cy="228600"/>
          </a:xfrm>
          <a:prstGeom prst="rect">
            <a:avLst/>
          </a:prstGeom>
          <a:noFill/>
          <a:ln/>
        </p:spPr>
        <p:txBody>
          <a:bodyPr wrap="square" rtlCol="0" anchor="ctr"/>
          <a:lstStyle/>
          <a:p>
            <a:pPr algn="r" indent="0" marL="0">
              <a:buNone/>
            </a:pPr>
            <a:r>
              <a:rPr lang="en-US" sz="900" dirty="0">
                <a:solidFill>
                  <a:srgbClr val="A8ADB4"/>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eTeacher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Longevity Life Academy — PR Launch Live Coverage</dc:title>
  <dc:subject>PptxGenJS Presentation</dc:subject>
  <dc:creator>eTeacher Group</dc:creator>
  <cp:lastModifiedBy>eTeacher Group</cp:lastModifiedBy>
  <cp:revision>1</cp:revision>
  <dcterms:created xsi:type="dcterms:W3CDTF">2026-07-20T09:53:48Z</dcterms:created>
  <dcterms:modified xsi:type="dcterms:W3CDTF">2026-07-20T09:53:48Z</dcterms:modified>
</cp:coreProperties>
</file>